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5" r:id="rId18"/>
    <p:sldId id="271" r:id="rId19"/>
    <p:sldId id="272" r:id="rId20"/>
    <p:sldId id="273" r:id="rId21"/>
    <p:sldId id="274" r:id="rId22"/>
    <p:sldId id="287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9" r:id="rId33"/>
    <p:sldId id="290" r:id="rId34"/>
    <p:sldId id="291" r:id="rId35"/>
    <p:sldId id="292" r:id="rId36"/>
    <p:sldId id="284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35A"/>
    <a:srgbClr val="D95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../media/image5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6.png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620256" y="0"/>
            <a:ext cx="5568696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548640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HIGH-FREQUENCY CIRCUITS LABORATORY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024128"/>
            <a:ext cx="548640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高频电路实验 · 实验指导</a:t>
            </a:r>
            <a:endParaRPr sz="2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54864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3572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 验 一</a:t>
            </a:r>
            <a:endParaRPr sz="1800" b="1">
              <a:solidFill>
                <a:srgbClr val="3572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066543"/>
            <a:ext cx="5669280" cy="868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34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单调谐回路谐振放大器</a:t>
            </a:r>
            <a:endParaRPr sz="34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680" y="3017520"/>
            <a:ext cx="960120" cy="54864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548640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小信号选频放大 · 幅频特性 · 动态范围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3749039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3816985"/>
            <a:ext cx="545338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课程主线：低频电路 → </a:t>
            </a:r>
            <a:r>
              <a:rPr b="1">
                <a:solidFill>
                  <a:schemeClr val="accent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高频电路（本实验）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 微波射频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78992" y="4261104"/>
            <a:ext cx="49377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8992" y="4370832"/>
            <a:ext cx="493776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实验平台：SMU-ST 高频电子线路实验平台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4663440"/>
            <a:ext cx="493776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实验课时：4 学时　|　实验地点：JZ-70</a:t>
            </a:r>
            <a:r>
              <a:rPr lang="en-US"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lang="en-US"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992" y="4956048"/>
            <a:ext cx="493776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202</a:t>
            </a:r>
            <a:r>
              <a:rPr lang="en-US"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— 202</a:t>
            </a:r>
            <a:r>
              <a:rPr lang="en-US"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学年第一学期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004304" y="1005840"/>
            <a:ext cx="4800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ig_tri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1391031"/>
            <a:ext cx="4581144" cy="34358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9585" y="5266690"/>
            <a:ext cx="511302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小信号放大器三频段形态对比 — 本实验位于中段「高频」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760720"/>
            <a:ext cx="548640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电子信息工程专业　|　授课教师：赵林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65176"/>
            <a:ext cx="91440" cy="612648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9224" y="274320"/>
            <a:ext cx="2743200" cy="3931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目　录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9224" y="704088"/>
            <a:ext cx="274320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CONTENTS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03503" y="20482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3" y="2103120"/>
            <a:ext cx="420624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3" y="2578608"/>
            <a:ext cx="2212848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实验准备</a:t>
            </a:r>
            <a:endParaRPr sz="2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3" y="3072384"/>
            <a:ext cx="2212848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PREPARATION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503" y="3401568"/>
            <a:ext cx="2212848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5216" y="3685857"/>
            <a:ext cx="2322576" cy="49212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课程定位 · 实验目的
仪器设备 · 仿真预习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10127" y="182880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529583" y="20482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29583" y="2103120"/>
            <a:ext cx="420624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29583" y="2578608"/>
            <a:ext cx="2212848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实验原理</a:t>
            </a:r>
            <a:endParaRPr sz="2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9583" y="3072384"/>
            <a:ext cx="2212848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THEORY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29583" y="3401568"/>
            <a:ext cx="2212848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11296" y="3685857"/>
            <a:ext cx="2322576" cy="49212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谐振回路 · 选频指标
原理电路与特点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36207" y="182880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55664" y="20482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55664" y="2103120"/>
            <a:ext cx="420624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55664" y="2578608"/>
            <a:ext cx="2212848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实验操作</a:t>
            </a:r>
            <a:endParaRPr sz="2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5664" y="3072384"/>
            <a:ext cx="2212848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PROCEDURE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55664" y="3401568"/>
            <a:ext cx="2212848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37375" y="3685857"/>
            <a:ext cx="2322576" cy="49212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接线 · 静态工作点
动态范围 · 幅频测量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62288" y="182880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9381744" y="20482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81744" y="2103120"/>
            <a:ext cx="420624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81744" y="2578608"/>
            <a:ext cx="2212848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处理与分析</a:t>
            </a:r>
            <a:endParaRPr sz="2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81744" y="3072384"/>
            <a:ext cx="2212848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ANALYSIS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381744" y="3401568"/>
            <a:ext cx="2212848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63456" y="3685857"/>
            <a:ext cx="2322576" cy="49212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数据整理 · 影响分析
误差分析 · 思考题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4048" y="4800600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实验主线：频率升高的过程中，放大器由「宽带」走向「选频」—— 谐振回路把放大与选频合二为一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51976" y="3429000"/>
            <a:ext cx="2852928" cy="2852928"/>
          </a:xfrm>
          <a:prstGeom prst="ellipse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31136"/>
            <a:ext cx="2478024" cy="23957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9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51376" y="2002536"/>
            <a:ext cx="27432" cy="2852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8304" y="2066543"/>
            <a:ext cx="6492240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3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实验准备</a:t>
            </a:r>
            <a:endParaRPr sz="3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8304" y="2816352"/>
            <a:ext cx="649224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PREPARATION</a:t>
            </a:r>
            <a:endParaRPr sz="18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4718304" y="352044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4983480" y="3419856"/>
            <a:ext cx="5760720" cy="36893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课程定位：低频 — </a:t>
            </a:r>
            <a:r>
              <a:rPr sz="2400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</a:t>
            </a:r>
            <a:r>
              <a:rPr sz="2000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— 微波射频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4718304" y="402336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4983480" y="3922776"/>
            <a:ext cx="576072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小信号放大器三频段形态对比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4718304" y="452628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4983480" y="4425696"/>
            <a:ext cx="576072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实验目的与实验仪器设备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4718304" y="502920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983480" y="4928616"/>
            <a:ext cx="576072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电路仿真预习要求（OBE 闭环）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0005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课程定位：低频 —</a:t>
            </a:r>
            <a:r>
              <a:rPr sz="2600" b="1">
                <a:solidFill>
                  <a:schemeClr val="accent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高频</a:t>
            </a:r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— 微波射频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COURSE POSITIONING IN THE FREQUENCY MAINLINE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频率主线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389888"/>
          <a:ext cx="11430090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18005"/>
                <a:gridCol w="2974340"/>
                <a:gridCol w="3467795"/>
                <a:gridCol w="316995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对比维度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低频电路（模拟电子）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chemeClr val="accent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高频电路 ★ 本实验</a:t>
                      </a:r>
                      <a:endParaRPr sz="1800" b="1">
                        <a:solidFill>
                          <a:schemeClr val="accent6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微波射频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典型频率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（直流 ~ </a:t>
                      </a:r>
                      <a:r>
                        <a:rPr lang="en-US"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300</a:t>
                      </a:r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kHz）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300</a:t>
                      </a:r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kHz ~ </a:t>
                      </a:r>
                      <a:r>
                        <a:rPr lang="en-US"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300</a:t>
                      </a:r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MHz（载频 1–30 MHz 级）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 300 MHz ~ 数十 GHz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核心器件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运放、二极管、BJT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高频 BJT/FET、变容管、MC1496 乘法器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微带 / 波导、FET、MMIC、PA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电路形式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RC 耦合、运放、负反馈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LC 谐振选频、调谐放大、振荡、调制解调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传输线、阻抗匹配、混频、天线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关键参数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增益、带宽、失真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400" b="1" i="1" baseline="-25000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、Q 值、选择性、带宽、</a:t>
                      </a:r>
                      <a:r>
                        <a:rPr sz="1400" b="1" i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</a:t>
                      </a:r>
                      <a:r>
                        <a:rPr sz="1400" b="1" i="1" baseline="-25000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、效率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 参数、回波损耗、增益平坦度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分析设计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时域、运放模型、波特图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频域选频、小信号/大信号、频谱搬移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分布参数、史密斯圆图、链路预算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典型实验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单级放大、RC 振荡、滤波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3A7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单调谐放大、LC 振荡、丙类功放、AM 调制解调</a:t>
                      </a:r>
                      <a:endParaRPr sz="1400" b="1">
                        <a:solidFill>
                          <a:srgbClr val="143A7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EC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微带功放、驻波、天线方向图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4048" y="5230368"/>
            <a:ext cx="11430000" cy="566928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5285231"/>
            <a:ext cx="1106424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核心结论：本课程 6 个实验全部落在「高频电路」段 —— 向下承接低频电路基础，向上衔接微波射频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70448"/>
            <a:ext cx="110642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把电子系统从「放大 / 振荡」延伸到「频谱搬移 / 无线收发」。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小信号放大器：三频段形态对比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SMALL-SIGNAL AMPLIFIER — FROM LOW FREQUENCY TO RF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重点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98448"/>
            <a:ext cx="6492240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_tri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855" y="1389888"/>
            <a:ext cx="5754624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852159"/>
            <a:ext cx="649224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小信号放大器三频段形态对比（按实际电路测量）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59168" y="1325880"/>
            <a:ext cx="4754880" cy="324612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87768" y="1481328"/>
            <a:ext cx="429768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各频段的核心差异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06056" y="2039112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16367" y="1965960"/>
            <a:ext cx="4041648" cy="58521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低频：RC 耦合放大器（运放 + 电阻负载），宽带平坦、无选频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06056" y="262432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16367" y="2551176"/>
            <a:ext cx="4041648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1">
                <a:solidFill>
                  <a:schemeClr val="accent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高频（本实验）：单调谐谐振放大器，LC 回路选频，尖锐谐振峰</a:t>
            </a:r>
            <a:endParaRPr sz="1600" b="1">
              <a:solidFill>
                <a:schemeClr val="accent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06056" y="3209544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6367" y="3136392"/>
            <a:ext cx="4041648" cy="58521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射频微波：微带 LNA，分布参数传输线，带内增益纹波 ripple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06056" y="3794759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6367" y="3721608"/>
            <a:ext cx="4041648" cy="58521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频率升高 → 由宽带带通转向选频，由集总元件转向分布参数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9168" y="4754880"/>
            <a:ext cx="4754880" cy="132588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42048" y="4809744"/>
            <a:ext cx="4389120" cy="121615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高频特色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高频放大器的灵魂是「选频」：谐振回路把放大与频率选择合二为一。Q 越高选择性越好但带宽越窄，须按指标折中 —— 这是它区别于低频宽带放大的根本。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实验目的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OBJECTIVES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项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11430000" cy="338328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777240" y="16459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77240" y="1719072"/>
            <a:ext cx="4572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463040" y="1700784"/>
            <a:ext cx="9966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掌握单调谐放大器的基本工作原理；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777240" y="22494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777240" y="2322576"/>
            <a:ext cx="4572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463040" y="2304288"/>
            <a:ext cx="9966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掌握单调谐放大器幅频特性的测量方法；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777240" y="28529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777240" y="2926080"/>
            <a:ext cx="4572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1463040" y="2907792"/>
            <a:ext cx="9966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熟悉单调谐放大器动态范围的基本概念和测量方法；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>
            <p:custDataLst>
              <p:tags r:id="rId10"/>
            </p:custDataLst>
          </p:nvPr>
        </p:nvSpPr>
        <p:spPr>
          <a:xfrm>
            <a:off x="777240" y="345643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777240" y="3529584"/>
            <a:ext cx="4572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1463040" y="3511296"/>
            <a:ext cx="9966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熟悉静态工作点及其对单调谐放大器幅频特性的影响；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777240" y="405993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77240" y="4133088"/>
            <a:ext cx="4572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1463040" y="4114800"/>
            <a:ext cx="9966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熟悉集电极负载对增益、通频带与品质因数 Q 的影响。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4048" y="4956048"/>
            <a:ext cx="11430000" cy="73152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66928" y="5010912"/>
            <a:ext cx="11064240" cy="62179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OBE 闭环：预测 → 仿真预习 → 实物验证 → 故障诊断 → 优化排除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实验报告须对比仿真波形与实测波形，分析理想模型与实际电路的差异来源。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实验仪器与设备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INSTRUMENTS &amp; EQUIPMENT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SMU-ST 平台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371600"/>
          <a:ext cx="11430000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3017520"/>
                <a:gridCol w="5577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仪器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型号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用途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双踪示波器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R&amp;S HMO1002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观测各点波形，测量幅度 / 频率 / 相位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函数 / 任意波形发生器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RIGOL DG1032（双通道）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提供 MHz 级载波与 kHz 级调制信号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数字万用表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VC9802A+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测量静态工作点 VB / VE / VC，判断工作区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实验平台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SMU-ST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单调谐放大 / 振荡 / 功放 / 调制解调模块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041648"/>
            <a:ext cx="3688080" cy="960120"/>
          </a:xfrm>
          <a:prstGeom prst="roundRect">
            <a:avLst>
              <a:gd name="adj" fmla="val 6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114800"/>
            <a:ext cx="332232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所有仪器共地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4480560"/>
            <a:ext cx="33223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地线夹接同一点，防地环路干扰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5008" y="4041648"/>
            <a:ext cx="3688080" cy="960120"/>
          </a:xfrm>
          <a:prstGeom prst="roundRect">
            <a:avLst>
              <a:gd name="adj" fmla="val 6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7888" y="4114800"/>
            <a:ext cx="332232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先关输出再接线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37888" y="4480560"/>
            <a:ext cx="33223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改线、换档前关闭输出，防冲击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5968" y="4041648"/>
            <a:ext cx="3688080" cy="960120"/>
          </a:xfrm>
          <a:prstGeom prst="roundRect">
            <a:avLst>
              <a:gd name="adj" fmla="val 6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08847" y="4114800"/>
            <a:ext cx="332232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幅度由小到大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8847" y="4480560"/>
            <a:ext cx="33223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从小到大逐步调节，避免过载失真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4048" y="5212080"/>
            <a:ext cx="11430000" cy="658368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5266944"/>
            <a:ext cx="11064240" cy="54864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操作通则：实验结束先关各模块自锁开关，再关箱体电源；插拔导线保持手部干燥。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电路仿真预习要求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SIMULATION PREVIEW · OBE CLOSED LOOP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预习提交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5577840" cy="356616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7" y="1527048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仿真预习通用要求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" y="2084831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2011679"/>
            <a:ext cx="4864607" cy="7498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仿真预习是本课程 OBE 闭环的第一步：预测 → 仿真 → 实测 → 诊断 → 优化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" y="2834639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761487"/>
            <a:ext cx="4864607" cy="7498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推荐软件：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NI Multisim（含 BJT、MC1496、理想乘法器模型），亦可用 ADS / LTspice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" y="3584447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7" y="3511295"/>
            <a:ext cx="4864607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预习提交物：仿真电路图 + 幅频 / 瞬态波形截图 + 关键参数预测值（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、增益、带宽）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" y="4334255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1104"/>
            <a:ext cx="4864607" cy="7498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对比要求：实物实验后将仿真波形与实测波形并列对比，说明差异及原因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0488" y="1371600"/>
            <a:ext cx="5623560" cy="356616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9088" y="1527048"/>
            <a:ext cx="51663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本实验仿真要点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37375" y="2084831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47688" y="2011679"/>
            <a:ext cx="4910328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电路：共射极单调谐放大器，晶体管 2N3904 / 2N2222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37375" y="2688336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47688" y="2615184"/>
            <a:ext cx="4910328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偏置：Rb1 / Rb2 / Re + Ce 置甲类，Cb / Cc 交流耦合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37375" y="3291840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7688" y="3218688"/>
            <a:ext cx="4910328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集电极并联 LC 回路：L = 1 µH，C ≈ 220 pF（含分布电容）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37375" y="3895344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47688" y="3822192"/>
            <a:ext cx="4910328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Rc 决定有载 Q 与带宽，采用部分接入以减小晶体管对 Q 的影响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37375" y="449884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47688" y="4425696"/>
            <a:ext cx="4910328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仿真方法：瞬态看增益 Av = Vo / Vi；AC 扫描读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、BW</a:t>
            </a:r>
            <a:r>
              <a:rPr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、Q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4048" y="5102352"/>
            <a:ext cx="11430000" cy="73152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5345239"/>
            <a:ext cx="11064240" cy="2457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预习任务：截图幅频曲线，记录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BW0.7 / Q，并预测与实测可能出现的差异。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51976" y="3429000"/>
            <a:ext cx="2852928" cy="2852928"/>
          </a:xfrm>
          <a:prstGeom prst="ellipse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31136"/>
            <a:ext cx="2478024" cy="23957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9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51376" y="2002536"/>
            <a:ext cx="27432" cy="2852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8304" y="2066543"/>
            <a:ext cx="6492240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3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实验原理</a:t>
            </a:r>
            <a:endParaRPr sz="3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8304" y="2816352"/>
            <a:ext cx="649224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THEORY</a:t>
            </a:r>
            <a:endParaRPr sz="18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18304" y="352044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83480" y="341985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预备知识：并联谐振回路核心公式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8304" y="402336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83480" y="392277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串 / 并联谐振回路对照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18304" y="452628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83480" y="4425696"/>
            <a:ext cx="5760720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选频回路的主要指标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BW</a:t>
            </a:r>
            <a:r>
              <a:rPr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K</a:t>
            </a:r>
            <a:r>
              <a:rPr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</a:t>
            </a:r>
            <a:endParaRPr sz="1600" b="0" baseline="-2500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18304" y="502920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83480" y="492861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单调谐放大器原理电路与特点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预备知识一：并联谐振回路核心公式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PARALLEL RESONANT CIRCUIT — KEY FORMULAS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2761488" cy="20574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0352" y="1499616"/>
            <a:ext cx="246888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中心频率 ω</a:t>
            </a:r>
            <a:r>
              <a:rPr sz="1800" b="1" baseline="-25000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800" b="1" baseline="-25000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8096" y="1865376"/>
            <a:ext cx="199339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93776" y="2066543"/>
                <a:ext cx="2542032" cy="283210"/>
              </a:xfrm>
              <a:prstGeom prst="rect">
                <a:avLst/>
              </a:prstGeom>
              <a:noFill/>
            </p:spPr>
            <p:txBody>
              <a:bodyPr wrap="square" lIns="36576" tIns="0" rIns="36576" bIns="0" anchor="t">
                <a:spAutoFit/>
              </a:bodyPr>
              <a:lstStyle/>
              <a:p>
                <a:pPr algn="ctr"/>
                <a:r>
                  <a:rPr sz="1800" b="1">
                    <a:solidFill>
                      <a:srgbClr val="143A7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ω₀ ≈ 1 /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>
                            <a:solidFill>
                              <a:srgbClr val="143A7A"/>
                            </a:solidFill>
                            <a:latin typeface="Cambria Math" panose="02040503050406030204" charset="0"/>
                            <a:ea typeface="Times New Roman" panose="02020603050405020304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sz="1800" b="1" i="1">
                            <a:solidFill>
                              <a:srgbClr val="143A7A"/>
                            </a:solidFill>
                            <a:latin typeface="Cambria Math" panose="02040503050406030204" charset="0"/>
                            <a:ea typeface="Times New Roman" panose="02020603050405020304"/>
                            <a:cs typeface="Cambria Math" panose="02040503050406030204" charset="0"/>
                          </a:rPr>
                          <m:t>𝑳𝑪</m:t>
                        </m:r>
                      </m:e>
                    </m:rad>
                  </m:oMath>
                </a14:m>
                <a:endParaRPr sz="1800" b="1">
                  <a:solidFill>
                    <a:srgbClr val="143A7A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" y="2066543"/>
                <a:ext cx="2542032" cy="283210"/>
              </a:xfrm>
              <a:prstGeom prst="rect">
                <a:avLst/>
              </a:prstGeom>
              <a:blipFill rotWithShape="1">
                <a:blip r:embed="rId1"/>
                <a:stretch>
                  <a:fillRect l="-15" t="-89" r="20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2920" y="2670048"/>
            <a:ext cx="2523744" cy="6766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谐振时回路呈纯阻性
电流与电压同相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73552" y="1371600"/>
            <a:ext cx="2761488" cy="20574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19856" y="1499616"/>
            <a:ext cx="24688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品质因数 Q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0" y="1865376"/>
            <a:ext cx="199339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83280" y="2066543"/>
            <a:ext cx="2542032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 = Rₚ / (ω₀L) = Rₚ·ω₀C</a:t>
            </a:r>
            <a:endParaRPr sz="18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92424" y="2670048"/>
            <a:ext cx="2523744" cy="6766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 为回路储能与耗能之比
衡量选频能力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3056" y="1371600"/>
            <a:ext cx="2761488" cy="20574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0" y="1499616"/>
            <a:ext cx="24688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通频带 BW0.7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47104" y="1865376"/>
            <a:ext cx="199339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72784" y="2066543"/>
            <a:ext cx="2542032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BW₀.₇ = </a:t>
            </a:r>
            <a:r>
              <a:rPr sz="18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18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8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Q</a:t>
            </a:r>
            <a:endParaRPr sz="18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81928" y="2670048"/>
            <a:ext cx="2523744" cy="6766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 越高选择性越好
带宽越窄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52560" y="1371600"/>
            <a:ext cx="2761488" cy="20574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8864" y="1499616"/>
            <a:ext cx="24688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谐振阻抗 Rₚ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436608" y="1865376"/>
            <a:ext cx="199339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62288" y="2066543"/>
            <a:ext cx="2542032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Rₚ = L / (rC) = Q·ω₀L</a:t>
            </a:r>
            <a:endParaRPr sz="18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71432" y="2670048"/>
            <a:ext cx="2523744" cy="6766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谐振时回路阻抗最大
失谐时迅速下降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3584448"/>
            <a:ext cx="5760720" cy="2359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s1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56" y="3657600"/>
            <a:ext cx="5360702" cy="22128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4048" y="5998464"/>
            <a:ext cx="57607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并联谐振回路的阻抗幅频特性与相频特性（Q 增大的影响）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27648" y="3584448"/>
            <a:ext cx="5486400" cy="2359152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10528" y="3639312"/>
            <a:ext cx="5120640" cy="224942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关键规律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 值越高 → 谐振曲线越尖锐 → 选择性越好、带宽越窄，这是选频放大的核心矛盾。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谐振时回路阻抗最大且为纯阻性；失谐后阻抗下降、相移出现，输出电压随之减小。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09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预备知识二：串 / 并联谐振回路对照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SERIES vs PARALLEL RESONANT CIRCUIT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384048" y="1389888"/>
              <a:ext cx="11430000" cy="347472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743200"/>
                    <a:gridCol w="4343400"/>
                    <a:gridCol w="4343400"/>
                  </a:tblGrid>
                  <a:tr h="402336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指标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并联谐振回路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串联谐振回路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电路结构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L 与 C 并联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L 与 C 串联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谐振频率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ω₀ = 1 /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400" b="0" i="1">
                                      <a:solidFill>
                                        <a:srgbClr val="333D4C"/>
                                      </a:solidFill>
                                      <a:latin typeface="Cambria Math" panose="02040503050406030204" charset="0"/>
                                      <a:ea typeface="Times New Roman" panose="02020603050405020304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b="0" i="1">
                                      <a:solidFill>
                                        <a:srgbClr val="333D4C"/>
                                      </a:solidFill>
                                      <a:latin typeface="Cambria Math" panose="02040503050406030204" charset="0"/>
                                      <a:ea typeface="Times New Roman" panose="02020603050405020304"/>
                                      <a:cs typeface="Cambria Math" panose="02040503050406030204" charset="0"/>
                                    </a:rPr>
                                    <m:t>𝐿𝐶</m:t>
                                  </m:r>
                                </m:e>
                              </m:rad>
                            </m:oMath>
                          </a14:m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ω₀ = 1 /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400" b="0" i="1">
                                      <a:solidFill>
                                        <a:srgbClr val="333D4C"/>
                                      </a:solidFill>
                                      <a:latin typeface="Cambria Math" panose="02040503050406030204" charset="0"/>
                                      <a:ea typeface="Times New Roman" panose="02020603050405020304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b="0" i="1">
                                      <a:solidFill>
                                        <a:srgbClr val="333D4C"/>
                                      </a:solidFill>
                                      <a:latin typeface="Cambria Math" panose="02040503050406030204" charset="0"/>
                                      <a:ea typeface="Times New Roman" panose="02020603050405020304"/>
                                      <a:cs typeface="Cambria Math" panose="02040503050406030204" charset="0"/>
                                    </a:rPr>
                                    <m:t>𝐿𝐶</m:t>
                                  </m:r>
                                </m:e>
                              </m:rad>
                            </m:oMath>
                          </a14:m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谐振阻抗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Rₚ = L / (rC)（最大）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r（最小）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品质因数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Q = Rₚ / (ω₀L)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Q = ω₀L / r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通频带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BW₀.₇ = </a:t>
                          </a:r>
                          <a:r>
                            <a:rPr lang="en-US" sz="1400" b="0" i="1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f</a:t>
                          </a:r>
                          <a:r>
                            <a:rPr lang="en-US" sz="1400" b="0" i="1" baseline="-2500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0</a:t>
                          </a:r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/ Q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BW₀.₇ = </a:t>
                          </a:r>
                          <a:r>
                            <a:rPr lang="en-US" sz="1400" b="0" i="1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f</a:t>
                          </a:r>
                          <a:r>
                            <a:rPr lang="en-US" sz="1400" b="0" i="1" baseline="-2500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0</a:t>
                          </a:r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/ Q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激励信号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恒流源（电流源激励）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恒压源（电压源激励）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384048" y="1389888"/>
              <a:ext cx="11430000" cy="347472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743200"/>
                    <a:gridCol w="4343400"/>
                    <a:gridCol w="4343400"/>
                  </a:tblGrid>
                  <a:tr h="402336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指标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并联谐振回路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串联谐振回路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1B4A9C"/>
                          </a:solidFill>
                        </a:lnL>
                        <a:lnR w="12700" cap="flat" cmpd="sng" algn="ctr">
                          <a:solidFill>
                            <a:srgbClr val="1B4A9C"/>
                          </a:solidFill>
                        </a:lnR>
                        <a:lnT w="12700" cap="flat" cmpd="sng" algn="ctr">
                          <a:solidFill>
                            <a:srgbClr val="1B4A9C"/>
                          </a:solidFill>
                        </a:lnT>
                        <a:lnB w="12700" cap="flat" cmpd="sng" algn="ctr">
                          <a:solidFill>
                            <a:srgbClr val="1B4A9C"/>
                          </a:solidFill>
                        </a:lnB>
                        <a:solidFill>
                          <a:srgbClr val="1B4A9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电路结构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L 与 C 并联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L 与 C 串联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1810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谐振频率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blipFill>
                          <a:blip r:embed="rId1"/>
                        </a:blip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谐振阻抗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Rₚ = L / (rC)（最大）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r（最小）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品质因数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Q = Rₚ / (ω₀L)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Q = ω₀L / r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通频带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BW₀.₇ = </a:t>
                          </a:r>
                          <a:r>
                            <a:rPr lang="en-US" sz="1400" b="0" i="1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f</a:t>
                          </a:r>
                          <a:r>
                            <a:rPr lang="en-US" sz="1400" b="0" i="1" baseline="-2500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0</a:t>
                          </a:r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/ Q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BW₀.₇ = </a:t>
                          </a:r>
                          <a:r>
                            <a:rPr lang="en-US" sz="1400" b="0" i="1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f</a:t>
                          </a:r>
                          <a:r>
                            <a:rPr lang="en-US" sz="1400" b="0" i="1" baseline="-2500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0</a:t>
                          </a:r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/ Q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3F7FC"/>
                        </a:solidFill>
                      </a:tcPr>
                    </a:tc>
                  </a:tr>
                  <a:tr h="512064"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1">
                              <a:solidFill>
                                <a:srgbClr val="242C3A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激励信号</a:t>
                          </a:r>
                          <a:endParaRPr sz="1400" b="1">
                            <a:solidFill>
                              <a:srgbClr val="242C3A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恒流源（电流源激励）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rgbClr val="333D4C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a:t>恒压源（电压源激励）</a:t>
                          </a:r>
                          <a:endParaRPr sz="1400" b="0">
                            <a:solidFill>
                              <a:srgbClr val="333D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</a:endParaRPr>
                        </a:p>
                      </a:txBody>
                      <a:tcPr marL="64008" marR="64008" marT="18288" marB="18288" anchor="ctr">
                        <a:lnL w="12700" cap="flat" cmpd="sng" algn="ctr">
                          <a:solidFill>
                            <a:srgbClr val="A8BAD4"/>
                          </a:solidFill>
                        </a:lnL>
                        <a:lnR w="12700" cap="flat" cmpd="sng" algn="ctr">
                          <a:solidFill>
                            <a:srgbClr val="A8BAD4"/>
                          </a:solidFill>
                        </a:lnR>
                        <a:lnT w="12700" cap="flat" cmpd="sng" algn="ctr">
                          <a:solidFill>
                            <a:srgbClr val="A8BAD4"/>
                          </a:solidFill>
                        </a:lnT>
                        <a:lnB w="12700" cap="flat" cmpd="sng" algn="ctr">
                          <a:solidFill>
                            <a:srgbClr val="A8BA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Rectangle 9"/>
          <p:cNvSpPr/>
          <p:nvPr/>
        </p:nvSpPr>
        <p:spPr>
          <a:xfrm>
            <a:off x="384048" y="4901184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956048"/>
            <a:ext cx="11064240" cy="67665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结论：并联回路适用于电源内阻较高（恒流源）的场合，在频率不很高时应用最广；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串联回路适用于低内阻或低阻抗电路（如微波电路）。本实验采用 LC 并联回路作集电极选频负载。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选频回路的主要指标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KEY PARAMETERS OF A FREQUENCY-SELECTIVE NETWORK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预备知识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384048" y="1371600"/>
            <a:ext cx="2926079" cy="23317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548640" y="1499616"/>
            <a:ext cx="2596896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中心频率 </a:t>
            </a:r>
            <a:r>
              <a:rPr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lang="en-US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0</a:t>
            </a:r>
            <a:r>
              <a:rPr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749808" y="1901952"/>
            <a:ext cx="219455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517525" y="2312288"/>
            <a:ext cx="2688335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传输系数最大处的频率。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8640" y="3127248"/>
                <a:ext cx="2596896" cy="251460"/>
              </a:xfrm>
              <a:prstGeom prst="rect">
                <a:avLst/>
              </a:prstGeom>
              <a:noFill/>
            </p:spPr>
            <p:txBody>
              <a:bodyPr wrap="square" lIns="36576" tIns="0" rIns="36576" bIns="0" anchor="t">
                <a:spAutoFit/>
              </a:bodyPr>
              <a:lstStyle/>
              <a:p>
                <a:pPr algn="ctr"/>
                <a:r>
                  <a:rPr sz="1600" b="1" i="1">
                    <a:solidFill>
                      <a:srgbClr val="143A7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+mn-ea"/>
                  </a:rPr>
                  <a:t>f</a:t>
                </a:r>
                <a:r>
                  <a:rPr lang="en-US" sz="1600" b="1" i="1" baseline="-25000">
                    <a:solidFill>
                      <a:srgbClr val="143A7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+mn-ea"/>
                  </a:rPr>
                  <a:t>0</a:t>
                </a:r>
                <a:r>
                  <a:rPr sz="1600" b="1">
                    <a:solidFill>
                      <a:srgbClr val="143A7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 = 1 / (2π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>
                            <a:solidFill>
                              <a:srgbClr val="143A7A"/>
                            </a:solidFill>
                            <a:latin typeface="Cambria Math" panose="02040503050406030204" charset="0"/>
                            <a:ea typeface="Times New Roman" panose="02020603050405020304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sz="1600" b="1" i="1">
                            <a:solidFill>
                              <a:srgbClr val="143A7A"/>
                            </a:solidFill>
                            <a:latin typeface="Cambria Math" panose="02040503050406030204" charset="0"/>
                            <a:ea typeface="Times New Roman" panose="02020603050405020304"/>
                            <a:cs typeface="Cambria Math" panose="02040503050406030204" charset="0"/>
                          </a:rPr>
                          <m:t>𝑳𝑪</m:t>
                        </m:r>
                      </m:e>
                    </m:rad>
                  </m:oMath>
                </a14:m>
                <a:r>
                  <a:rPr sz="1600" b="1">
                    <a:solidFill>
                      <a:srgbClr val="143A7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)</a:t>
                </a:r>
                <a:endParaRPr sz="1600" b="1">
                  <a:solidFill>
                    <a:srgbClr val="143A7A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48640" y="3127248"/>
                <a:ext cx="2596896" cy="251460"/>
              </a:xfrm>
              <a:prstGeom prst="rect">
                <a:avLst/>
              </a:prstGeom>
              <a:blipFill rotWithShape="1">
                <a:blip r:embed="rId7"/>
                <a:stretch>
                  <a:fillRect t="-202" r="15" b="-15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3447287" y="1371600"/>
            <a:ext cx="2926079" cy="23317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611879" y="1499616"/>
            <a:ext cx="2596896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通频带 BW₀.₇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3813048" y="1901952"/>
            <a:ext cx="219455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3566159" y="2066543"/>
            <a:ext cx="2688335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传输系数降至最大值的
0.707 倍（-3 dB）时的带宽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3611879" y="3127248"/>
            <a:ext cx="2596896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BW₀.₇ =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−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endParaRPr sz="1600" b="1" i="1" baseline="-25000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6510527" y="1371600"/>
            <a:ext cx="2926079" cy="23317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6675119" y="1499616"/>
            <a:ext cx="2596896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矩形系数 K₀.₁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20"/>
          <p:cNvSpPr/>
          <p:nvPr>
            <p:custDataLst>
              <p:tags r:id="rId15"/>
            </p:custDataLst>
          </p:nvPr>
        </p:nvSpPr>
        <p:spPr>
          <a:xfrm>
            <a:off x="6876288" y="1901952"/>
            <a:ext cx="219455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6614795" y="2066290"/>
            <a:ext cx="2703195" cy="73850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下降至 0.1 倍时的带宽
与通频带之比
越接近 1 选择性越好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6675119" y="3127248"/>
            <a:ext cx="2596896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K₀.₁ = BW₀.₁ / BW₀.₇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290304" y="1298448"/>
            <a:ext cx="2523744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10_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7710" y="1353312"/>
            <a:ext cx="2068931" cy="2286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048" y="3931920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4066349"/>
            <a:ext cx="11064240" cy="51752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理想情况下 K₀.₁ = 1，可把通频带以外的信号全部滤掉；实际单调谐回路的矩形系数远大于 1。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-3 dB 依据：20lg0.707 = −3 dB；电压降至 0.707 倍时功率减半，故 BW₀.₇ 又称半功率点带宽。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4048" y="4846320"/>
            <a:ext cx="11430000" cy="658368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" y="5052631"/>
            <a:ext cx="11064240" cy="2457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本实验须测量的三个指标：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（谐振点）、BW₀.₇（通频带）、Q =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lang="en-US"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0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BW₀.₇（品质因数）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单调谐放大器原理电路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SINGLE-TUNED RESONANT AMPLIFIER — SCHEMATIC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图1-3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417320"/>
            <a:ext cx="384048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22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574596"/>
            <a:ext cx="3657600" cy="2977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764024"/>
            <a:ext cx="384048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图1-3　单调谐放大器原理电路图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43984" y="1417320"/>
            <a:ext cx="7370064" cy="329184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72584" y="1572768"/>
            <a:ext cx="6912864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主要元件与作用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90872" y="2130552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01184" y="2057400"/>
            <a:ext cx="6656832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Rb1、Rb2、Re：分压式偏置，保证晶体管工作在放大区（甲类）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90872" y="2606040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01184" y="2532888"/>
            <a:ext cx="6656832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Ce：Re 的旁路电容，使射极交流接地，避免交流负反馈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90872" y="308152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01184" y="3008376"/>
            <a:ext cx="6656832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Cb、Cc：输入 / 输出耦合电容，隔直流、通交流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90872" y="3557016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01184" y="3483864"/>
            <a:ext cx="6656832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L、C：并联谐振回路，决定中心频率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与选频特性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90872" y="4032503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01184" y="3959352"/>
            <a:ext cx="6656832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Rc：集电极交流负载电阻，决定回路的 Q 值与带宽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90872" y="4507991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01184" y="4434840"/>
            <a:ext cx="6656832" cy="4754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部分接入：减轻晶体管与下级负载对回路 Q 值的影响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048" y="5102352"/>
            <a:ext cx="11430000" cy="73152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5157216"/>
            <a:ext cx="11064240" cy="62179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谐振时回路呈纯阻性且阻抗最大，该频率上的电压增益最高；失谐后增益迅速下降 ——「选频放大」由此实现。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小信号谐振放大器的特点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FEATURES OF SMALL-SIGNAL RESONANT AMPLIFIERS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原理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384048" y="1389888"/>
            <a:ext cx="275463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585216" y="15910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585216" y="1664208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585216" y="2121408"/>
            <a:ext cx="2352294" cy="3840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工作频率较高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530352" y="2560320"/>
            <a:ext cx="2462022" cy="43053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中心频率几百 kHz ~ 几百 MHz
频带宽度几 kHz ~ 几十 MHz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3275838" y="1389888"/>
            <a:ext cx="275463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3477006" y="15910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477006" y="1664208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477006" y="2121408"/>
            <a:ext cx="2352294" cy="3840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输入信号小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3422142" y="2560320"/>
            <a:ext cx="2462022" cy="43053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输入电压在微伏至毫伏量级
工作在线性区内（甲类）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6167628" y="1389888"/>
            <a:ext cx="275463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>
            <p:custDataLst>
              <p:tags r:id="rId12"/>
            </p:custDataLst>
          </p:nvPr>
        </p:nvSpPr>
        <p:spPr>
          <a:xfrm>
            <a:off x="6368796" y="15910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6368796" y="1664208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6368796" y="2121408"/>
            <a:ext cx="2352294" cy="3840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集电极调谐负载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6313932" y="2560320"/>
            <a:ext cx="2462022" cy="43053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集电极负载采用 LC 调谐回路
取代电阻负载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ounded Rectangle 23"/>
          <p:cNvSpPr/>
          <p:nvPr>
            <p:custDataLst>
              <p:tags r:id="rId16"/>
            </p:custDataLst>
          </p:nvPr>
        </p:nvSpPr>
        <p:spPr>
          <a:xfrm>
            <a:off x="9059418" y="1389888"/>
            <a:ext cx="2754630" cy="27432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>
            <p:custDataLst>
              <p:tags r:id="rId17"/>
            </p:custDataLst>
          </p:nvPr>
        </p:nvSpPr>
        <p:spPr>
          <a:xfrm>
            <a:off x="9260586" y="15910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9260586" y="1664208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9260586" y="2121408"/>
            <a:ext cx="2352294" cy="3840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强选频能力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9205722" y="2560320"/>
            <a:ext cx="2462022" cy="43053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谐振频率处增益最大
远离谐振频率的信号被抑制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4048" y="4315968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928" y="4465637"/>
            <a:ext cx="11064240" cy="4870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幅频特性关键指标：中心频率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lang="en-US"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 通频带 BW₀</a:t>
            </a:r>
            <a:r>
              <a:rPr lang="en-US"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₇（-3 dB 带宽）· 矩形系数 K₀.₁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主要指标要求：有足够的增益，满足通频带与选择性要求，工作稳定。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" y="5230368"/>
            <a:ext cx="110642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接收机中，正是靠这类选频放大级把微弱的有用信号选出并放大，同时抑制邻近的干扰信号。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实验电路与测试点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CIRCUIT &amp; TEST POINTS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图1-4 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43584"/>
            <a:ext cx="11430000" cy="4187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23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969" y="1316736"/>
            <a:ext cx="9838156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486400"/>
            <a:ext cx="11430000" cy="21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图1-4 　单调谐回路谐振放大器实验电路图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4048" y="5760720"/>
            <a:ext cx="11430000" cy="45720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5866447"/>
            <a:ext cx="11064240" cy="2457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 IN1 → 3Q10 单调谐输入级 → LC 谐振回路选频 → 3</a:t>
            </a:r>
            <a:r>
              <a:rPr lang="en-US"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 → 3Q11 → SOUT1 单调谐输出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实验电路与测试点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CIRCUIT &amp; TEST POINTS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图1-5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43584"/>
            <a:ext cx="11430000" cy="4187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" y="5486400"/>
            <a:ext cx="11430000" cy="21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图1-5　单调谐放大器模块</a:t>
            </a:r>
            <a:r>
              <a:rPr lang="zh-CN" sz="1400" b="0">
                <a:solidFill>
                  <a:srgbClr val="6C788A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（电路序号</a:t>
            </a:r>
            <a:r>
              <a:rPr lang="en-US" altLang="zh-CN" sz="1400" b="0">
                <a:solidFill>
                  <a:srgbClr val="6C788A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8</a:t>
            </a:r>
            <a:r>
              <a:rPr lang="zh-CN" sz="1400" b="0">
                <a:solidFill>
                  <a:srgbClr val="6C788A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）</a:t>
            </a:r>
            <a:endParaRPr lang="zh-CN" sz="1400" b="0">
              <a:solidFill>
                <a:srgbClr val="6C788A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4048" y="5760720"/>
            <a:ext cx="11430000" cy="45720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5866447"/>
            <a:ext cx="11064240" cy="2457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 IN1 → 3Q10 单调谐输入级 → LC 谐振回路选频 → 3</a:t>
            </a:r>
            <a:r>
              <a:rPr lang="en-US"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 → 3Q11 → SOUT1 单调谐输出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17352" y="6483096"/>
            <a:ext cx="1005840" cy="201168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963" name="Picture 3" descr="8-1-2 单调谐放大器9 - 副本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135" y="1332865"/>
            <a:ext cx="9003665" cy="404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51976" y="3429000"/>
            <a:ext cx="2852928" cy="2852928"/>
          </a:xfrm>
          <a:prstGeom prst="ellipse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31136"/>
            <a:ext cx="2478024" cy="23957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9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51376" y="2002536"/>
            <a:ext cx="27432" cy="2852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8304" y="2066543"/>
            <a:ext cx="6492240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3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实验操作</a:t>
            </a:r>
            <a:endParaRPr sz="3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8304" y="2816352"/>
            <a:ext cx="649224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PROCEDURE</a:t>
            </a:r>
            <a:endParaRPr sz="18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18304" y="352044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83480" y="341985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测量方法：点频法与扫频法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8304" y="402336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83480" y="392277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步骤一　静态工作点测量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18304" y="452628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83480" y="442569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步骤二　动态范围测量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18304" y="502920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83480" y="492861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步骤三　幅频特性测量与数据记录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17352" y="6483096"/>
            <a:ext cx="1005840" cy="201168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幅频特性的两种测量方法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SWEEP METHOD vs POINT-BY-POINT METHOD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测量方法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5577840" cy="3017520"/>
          </a:xfrm>
          <a:prstGeom prst="roundRect">
            <a:avLst>
              <a:gd name="adj" fmla="val 3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2743200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1">
                <a:solidFill>
                  <a:schemeClr val="accent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点频法</a:t>
            </a:r>
            <a:endParaRPr sz="2000" b="1">
              <a:solidFill>
                <a:schemeClr val="accent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2743200" cy="20116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POINT-BY-POINT</a:t>
            </a:r>
            <a:endParaRPr sz="12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4944" y="226771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627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保持信号源输出幅度不变，按步进逐点改变频率；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4944" y="281635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用数字存储示波器读出每个频率点的输出电压幅度；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4944" y="336499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273552"/>
            <a:ext cx="5047488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在坐标纸上逐点描出幅频特性曲线，再求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、BW0.7。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4944" y="391363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82219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优点：数据可追溯、便于分析；本实验采用此法。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27648" y="1371600"/>
            <a:ext cx="5577840" cy="3017520"/>
          </a:xfrm>
          <a:prstGeom prst="roundRect">
            <a:avLst>
              <a:gd name="adj" fmla="val 3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01968" y="1572768"/>
            <a:ext cx="274320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扫频法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SWEEP</a:t>
            </a:r>
            <a:endParaRPr sz="12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38544" y="226771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0" y="217627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用数字扫频仪连续扫频，直接显示幅频特性曲线；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38544" y="281635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0" y="272491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直观明了，适合快速观察谐振峰位置与形状；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38544" y="336499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0" y="327355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可即时判断回路是否失谐、Q 值是否正常；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38544" y="3913632"/>
            <a:ext cx="100584" cy="100584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0" y="3822192"/>
            <a:ext cx="5047488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缺点：不易逐点记录数据，多用于定性观察。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4048" y="4617720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4767389"/>
            <a:ext cx="11064240" cy="4870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本实验采用点频法：建议输入小信号 V</a:t>
            </a:r>
            <a:r>
              <a:rPr sz="1600" b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P-P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= 50 ~ 200 mV，频率范围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 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 5 ~ 7 MHz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测量时须保持信号源输出幅度不变，只改变频率，否则曲线失真。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17352" y="6483096"/>
            <a:ext cx="1005840" cy="201168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步骤一：静态工作点测量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STEP 1 — DC QUIESCENT POINT MEASUREMENT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 1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98448"/>
            <a:ext cx="722376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722376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图1-7　静态工作点测量实验电路图（实验箱实拍）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18120" y="1298448"/>
            <a:ext cx="3995928" cy="246888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0" y="1453895"/>
            <a:ext cx="3538728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操作步骤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65008" y="2011679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20" y="1938527"/>
            <a:ext cx="3282696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按图 1-7 连线，打开电源开关；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65008" y="257860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2505456"/>
            <a:ext cx="3282696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调节电位器 3W10，分别记录 3PB11 处的最小值、中间值和最大值；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65008" y="3145536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20" y="3072384"/>
            <a:ext cx="3282696" cy="5669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用万用表测量 VB、VE、VC，填入表 1-1 并判断三极管工作状态。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048" y="4114800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表1-1　静态工作点测量数据记录表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4389120"/>
          <a:ext cx="1143000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737360"/>
                <a:gridCol w="2011680"/>
                <a:gridCol w="2011680"/>
                <a:gridCol w="192024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实 测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VE（V）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是否放大区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判断原因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17352" y="6483096"/>
            <a:ext cx="1005840" cy="201168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31800" y="1389380"/>
            <a:ext cx="7138035" cy="2304415"/>
            <a:chOff x="1353" y="5824"/>
            <a:chExt cx="11226" cy="3764"/>
          </a:xfrm>
        </p:grpSpPr>
        <p:pic>
          <p:nvPicPr>
            <p:cNvPr id="39940" name="Picture 4" descr="8-1-2 单调谐放大器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3" y="5824"/>
              <a:ext cx="11226" cy="3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" name="组合 27"/>
            <p:cNvGrpSpPr/>
            <p:nvPr/>
          </p:nvGrpSpPr>
          <p:grpSpPr>
            <a:xfrm>
              <a:off x="4365" y="7061"/>
              <a:ext cx="6690" cy="2330"/>
              <a:chOff x="4365" y="7061"/>
              <a:chExt cx="6690" cy="233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576" y="8597"/>
                <a:ext cx="1928" cy="7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万用表</a:t>
                </a:r>
                <a:endParaRPr lang="zh-CN" altLang="en-US" b="1" dirty="0">
                  <a:solidFill>
                    <a:srgbClr val="002060"/>
                  </a:solidFill>
                </a:endParaRPr>
              </a:p>
            </p:txBody>
          </p:sp>
          <p:cxnSp>
            <p:nvCxnSpPr>
              <p:cNvPr id="30" name="直接箭头连接符 29"/>
              <p:cNvCxnSpPr>
                <a:stCxn id="29" idx="1"/>
              </p:cNvCxnSpPr>
              <p:nvPr/>
            </p:nvCxnSpPr>
            <p:spPr>
              <a:xfrm flipH="1">
                <a:off x="4365" y="8994"/>
                <a:ext cx="2210" cy="19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29" idx="3"/>
              </p:cNvCxnSpPr>
              <p:nvPr/>
            </p:nvCxnSpPr>
            <p:spPr>
              <a:xfrm flipV="1">
                <a:off x="8503" y="7061"/>
                <a:ext cx="2552" cy="1933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步骤二：动态范围测量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STEP 2 — DYNAMIC RANGE MEASUREMENT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 2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25880"/>
            <a:ext cx="5577840" cy="2359152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7" y="1481328"/>
            <a:ext cx="512064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测量方法</a:t>
            </a:r>
            <a:r>
              <a:rPr lang="zh-CN" sz="1800" b="1">
                <a:solidFill>
                  <a:srgbClr val="1B4A9C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（以</a:t>
            </a:r>
            <a:r>
              <a:rPr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VB(mid)为例</a:t>
            </a:r>
            <a:r>
              <a:rPr lang="zh-CN" sz="1800" b="1">
                <a:solidFill>
                  <a:srgbClr val="1B4A9C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）</a:t>
            </a:r>
            <a:endParaRPr lang="zh-CN" sz="1800" b="1">
              <a:solidFill>
                <a:srgbClr val="1B4A9C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" y="2039112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1965960"/>
            <a:ext cx="4864607" cy="5120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固定静态工作点在中间值 VB(mid)；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" y="2551176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478024"/>
            <a:ext cx="4864607" cy="5120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将信号源输出频率调至该状态下的谐振频率点；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" y="3063240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7" y="2990088"/>
            <a:ext cx="4864607" cy="5120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改变信号源输出幅度，读取输出电压，找出放大倍数开始下降（波形失真）的转折点。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4048" y="3767328"/>
            <a:ext cx="1143000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表1-2　不同静态工作点下的动态范围测量数据记录表（空白模板）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93065" y="4023360"/>
          <a:ext cx="11396980" cy="2157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10251"/>
                <a:gridCol w="2059940"/>
                <a:gridCol w="1565275"/>
                <a:gridCol w="1669415"/>
                <a:gridCol w="1677035"/>
                <a:gridCol w="3215064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选通开关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静态工作点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（MHz）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min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max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动态范围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1400">
                          <a:solidFill>
                            <a:srgbClr val="D953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20 lg (Vmax / Vmin)（dB）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ctr"/>
                      <a:r>
                        <a:rPr lang="zh-CN"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抬起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10896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ctr"/>
                      <a:r>
                        <a:rPr lang="zh-CN"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按下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10896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17352" y="6483096"/>
            <a:ext cx="1005840" cy="201168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765165" y="1379220"/>
            <a:ext cx="6115050" cy="2403788"/>
            <a:chOff x="574" y="5430"/>
            <a:chExt cx="12841" cy="5204"/>
          </a:xfrm>
        </p:grpSpPr>
        <p:grpSp>
          <p:nvGrpSpPr>
            <p:cNvPr id="33" name="组合 32"/>
            <p:cNvGrpSpPr/>
            <p:nvPr/>
          </p:nvGrpSpPr>
          <p:grpSpPr>
            <a:xfrm>
              <a:off x="574" y="5430"/>
              <a:ext cx="12841" cy="5204"/>
              <a:chOff x="225075" y="3472335"/>
              <a:chExt cx="8154336" cy="3304730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1023823" y="3472335"/>
                <a:ext cx="6984776" cy="3304730"/>
                <a:chOff x="918070" y="3802066"/>
                <a:chExt cx="6701900" cy="2785880"/>
              </a:xfrm>
            </p:grpSpPr>
            <p:pic>
              <p:nvPicPr>
                <p:cNvPr id="35" name="Picture 3" descr="8-1-2 单调谐放大器 - 副本 (4)"/>
                <p:cNvPicPr>
                  <a:picLocks noChangeAspect="1" noChangeArrowheads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8070" y="3802066"/>
                  <a:ext cx="6701900" cy="22714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6" name="文本框 35"/>
                <p:cNvSpPr txBox="1"/>
                <p:nvPr/>
              </p:nvSpPr>
              <p:spPr>
                <a:xfrm>
                  <a:off x="1952836" y="6195692"/>
                  <a:ext cx="5238328" cy="3922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indent="127000" algn="ctr">
                    <a:lnSpc>
                      <a:spcPct val="115000"/>
                    </a:lnSpc>
                  </a:pPr>
                  <a:r>
                    <a:rPr lang="zh-CN" altLang="en-US" sz="1400" kern="100" dirty="0">
                      <a:solidFill>
                        <a:schemeClr val="tx2"/>
                      </a:solidFill>
                      <a:effectLst/>
                      <a:latin typeface="Times New Roman" panose="02020603050405020304" charset="0"/>
                      <a:ea typeface="宋体" panose="02010600030101010101" pitchFamily="2" charset="-122"/>
                    </a:rPr>
                    <a:t>图</a:t>
                  </a:r>
                  <a:r>
                    <a:rPr lang="en-US" altLang="zh-CN" sz="1400" kern="100" dirty="0">
                      <a:solidFill>
                        <a:schemeClr val="tx2"/>
                      </a:solidFill>
                      <a:effectLst/>
                      <a:latin typeface="Times New Roman" panose="02020603050405020304" charset="0"/>
                      <a:ea typeface="宋体" panose="02010600030101010101" pitchFamily="2" charset="-122"/>
                    </a:rPr>
                    <a:t>1-8</a:t>
                  </a:r>
                  <a:r>
                    <a:rPr lang="zh-CN" altLang="en-US" sz="1400" kern="100" dirty="0">
                      <a:solidFill>
                        <a:schemeClr val="tx2"/>
                      </a:solidFill>
                      <a:effectLst/>
                      <a:latin typeface="Times New Roman" panose="02020603050405020304" charset="0"/>
                      <a:ea typeface="宋体" panose="02010600030101010101" pitchFamily="2" charset="-122"/>
                    </a:rPr>
                    <a:t>幅频特性测量电路图</a:t>
                  </a:r>
                  <a:endParaRPr lang="zh-CN" altLang="en-US" sz="1400" kern="100" dirty="0">
                    <a:solidFill>
                      <a:schemeClr val="tx2"/>
                    </a:solidFill>
                    <a:effectLst/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7" name="对话气泡: 矩形 18"/>
              <p:cNvSpPr/>
              <p:nvPr/>
            </p:nvSpPr>
            <p:spPr>
              <a:xfrm>
                <a:off x="225075" y="3819783"/>
                <a:ext cx="750701" cy="859984"/>
              </a:xfrm>
              <a:prstGeom prst="wedgeRectCallout">
                <a:avLst>
                  <a:gd name="adj1" fmla="val 141803"/>
                  <a:gd name="adj2" fmla="val 458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rgbClr val="FF0000"/>
                    </a:solidFill>
                  </a:rPr>
                  <a:t>信号源</a:t>
                </a:r>
                <a:r>
                  <a:rPr lang="en-US" altLang="zh-CN" sz="1200" b="1" dirty="0">
                    <a:solidFill>
                      <a:srgbClr val="FF0000"/>
                    </a:solidFill>
                  </a:rPr>
                  <a:t>CH1</a:t>
                </a:r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对话气泡: 矩形 19"/>
              <p:cNvSpPr/>
              <p:nvPr/>
            </p:nvSpPr>
            <p:spPr>
              <a:xfrm>
                <a:off x="225075" y="4909160"/>
                <a:ext cx="799927" cy="750566"/>
              </a:xfrm>
              <a:prstGeom prst="wedgeRectCallout">
                <a:avLst>
                  <a:gd name="adj1" fmla="val 136051"/>
                  <a:gd name="adj2" fmla="val 189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FF0000"/>
                    </a:solidFill>
                  </a:rPr>
                  <a:t>示波器</a:t>
                </a:r>
                <a:r>
                  <a:rPr lang="en-US" altLang="zh-CN" sz="1200" b="1" dirty="0">
                    <a:solidFill>
                      <a:srgbClr val="FF0000"/>
                    </a:solidFill>
                  </a:rPr>
                  <a:t>CH1</a:t>
                </a:r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9" name="对话气泡: 矩形 20"/>
              <p:cNvSpPr/>
              <p:nvPr/>
            </p:nvSpPr>
            <p:spPr>
              <a:xfrm>
                <a:off x="7561434" y="3534722"/>
                <a:ext cx="817977" cy="686259"/>
              </a:xfrm>
              <a:prstGeom prst="wedgeRectCallout">
                <a:avLst>
                  <a:gd name="adj1" fmla="val -48796"/>
                  <a:gd name="adj2" fmla="val 127342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FF0000"/>
                    </a:solidFill>
                  </a:rPr>
                  <a:t>示波器</a:t>
                </a:r>
                <a:r>
                  <a:rPr lang="en-US" altLang="zh-CN" sz="1200" b="1" dirty="0">
                    <a:solidFill>
                      <a:srgbClr val="FF0000"/>
                    </a:solidFill>
                  </a:rPr>
                  <a:t>CH2</a:t>
                </a:r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0" name="椭圆 39"/>
            <p:cNvSpPr/>
            <p:nvPr/>
          </p:nvSpPr>
          <p:spPr>
            <a:xfrm>
              <a:off x="4592" y="8919"/>
              <a:ext cx="567" cy="5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365" y="9457"/>
              <a:ext cx="1332" cy="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4.98V</a:t>
              </a:r>
              <a:endParaRPr lang="en-US" altLang="zh-CN" sz="1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Left: '40px', paddingRight: '40px', paddingTop: '80px', paddingBottom: '0px' }}&gt;&#10;&#10;    {/* ===== A 顶条 ===== */}&#10;    &lt;Box style={{ position: 'absolute', top: '0px', left: '0px', width: '1280px', height: '72px', background: '#1E4FA8', flexDirection: 'row', alignItems: 'center', justifyContent: 'space-between', paddingLeft: '40px', paddingRight: '40px' }}&gt;&#10;        &lt;Text style={{ fontSize: 32, fontWeight: 'bold', color: '#FFFFFF' }}&gt;单调谐 LC 选频放大器 · 动态范围测量&lt;/Text&gt;&#10;        &lt;Text style={{ fontSize: 16, color: '#C9D9F2' }}&gt;高频电路实验　|　单元：单调谐 LC 选频放大器　|　f₀ ≈ 5.63 MHz&lt;/Text&gt;&#10;    &lt;/Box&gt;&#10;&#10;    {/* ===== B 内容区 ===== */}&#10;    &lt;Box style={{ flexDirection: 'row', gap: '20px', height: '572px', width: '1200px', alignItems: 'stretch' }}&gt;&#10;&#10;        {/* ---- 左列：主视觉 + 数据记录表 ---- */}&#10;        &lt;Box style={{ width: '520px', height: '100%', gap: '10px' }}&gt;&#10;&#10;            {/* L1 主视觉 */}&#10;            &lt;Box style={{ height: '302px', background: '#F7F9FC', border: '1px solid #D6DCE5', borderRadius: '8px', padding: '12px' }}&gt;&#10;                &lt;Text style={{ fontSize: 21, fontWeight: 'bold', color: '#0E3F8C' }}&gt;动态范围示意图（V_o — P_in）&lt;/Text&gt;&#10;                &lt;Box style={{ paddingTop: '4px' }}&gt;&#10;                    &lt;svg width={496} height={240} viewBox='0 0 496 240'&gt;&#10;                        &lt;line x1='62' y1='195' x2='470' y2='195' stroke='#8B97A8' strokeWidth='1.5' /&gt;&#10;                        &lt;line x1='62' y1='20' x2='62' y2='195' stroke='#8B97A8' strokeWidth='1.5' /&gt;&#10;                        &lt;text x='6' y='32' fontSize='14' fill='#4A5568'&gt;V_o / dB&lt;/text&gt;&#10;                        &lt;text x='470' y='212' textAnchor='end' fontSize='14' fill='#4A5568'&gt;P_in / dBm&lt;/text&gt;&#10;                        &lt;line x1='62' y1='187' x2='470' y2='187' stroke='#8B97A8' strokeWidth='1.5' strokeDasharray='6 5' /&gt;&#10;                        &lt;text x='470' y='182' textAnchor='end' fontSize='14' fill='#8B97A8'&gt;噪声底 N&lt;/text&gt;&#10;                        &lt;path d='M105,170 L300,110' fill='none' stroke='#1E4FA8' strokeWidth='3' /&gt;&#10;                        &lt;path d='M300,110 Q370,98 445,88' fill='none' stroke='#1E4FA8' strokeWidth='3' /&gt;&#10;                        &lt;path d='M105,170 L300,110 L445,65' fill='none' stroke='#3D7BD9' strokeWidth='2' strokeDasharray='6 5' /&gt;&#10;                        &lt;circle cx='135' cy='161' r='5' fill='#FFC107' stroke='#1A2230' strokeWidth='1' /&gt;&#10;                        &lt;text x='95' y='150' fontSize='15' fontWeight='bold' fill='#1A2230'&gt;S/N≈3（下限）&lt;/text&gt;&#10;                        &lt;circle cx='445' cy='88' r='5' fill='#D9534F' /&gt;&#10;                        &lt;text x='470' y='116' textAnchor='end' fontSize='15' fontWeight='bold' fill='#D9534F'&gt;IP1dB（上限，压缩 1 dB）&lt;/text&gt;&#10;                        &lt;line x1='357' y1='65' x2='357' y2='88' stroke='#D9534F' strokeWidth='2' /&gt;&#10;                        &lt;line x1='135' y1='222' x2='445' y2='222' stroke='#1E4FA8' strokeWidth='2' /&gt;&#10;                        &lt;path d='M135,222 L146,216 L146,228 Z' fill='#1E4FA8' /&gt;&#10;                        &lt;path d='M445,222 L434,216 L434,228 Z' fill='#1E4FA8' /&gt;&#10;                        &lt;text x='290' y='238' textAnchor='middle' fontSize='16' fontWeight='bold' fill='#0E3F8C'&gt;动态范围 = IP1dB − P_in(noise)&lt;/text&gt;&#10;                    &lt;/svg&gt;&#10;                &lt;/Box&gt;&#10;            &lt;/Box&gt;&#10;&#10;            {/* 实测数据记录表 */}&#10;            &lt;Box style={{ height: '260px', background: '#FFFFFF', border: '1px solid #D6DCE5', borderRadius: '8px', padding: '10px' }}&gt;&#10;                &lt;Text style={{ fontSize: 20, fontWeight: 'bold', color: '#0E3F8C', paddingBottom: '6px' }}&gt;五、实测数据记录（学生填写，f₀ = 5.63 MHz）&lt;/Text&gt;&#10;                &lt;Table&#10;                    style={{ width: '100%', height: '200px' }}&#10;                    defaultTextStyle={{ fontSize: 18, textAlign: 'left', color: '#1A2230' }}&#10;                    defaultCellStyle={{ border: { left: { width: 1.5, color: '#A9B7CC' }, right: { width: 1.5, color: '#A9B7CC' }, top: { width: 1.5, color: '#A9B7CC' }, bottom: { width: 1.5, color: '#A9B7CC' } } }}&#10;                    cells={[&#10;                        [&#10;                            { text: '测量参数', textStyle: { bold: true, color: '#FFFFFF', fontSize: 18, textAlign: 'center' }, cellStyle: { background: { color: '#1E4FA8' } } },&#10;                            { text: '记录值', textStyle: { bold: true, color: '#FFFFFF', fontSize: 18, textAlign: 'center' }, cellStyle: { background: { color: '#1E4FA8' } } },&#10;                        ],&#10;                        [&#10;                            { text: '谐振电压增益 A_v0', textStyle: { fontSize: 18 }, cellStyle: { background: { color: '#F7F9FC' } } },&#10;                            { text: '________ dB', textStyle: { fontSize: 18, bold: true, color: '#1E4FA8', textAlign: 'center' }, cellStyle: { background: { color: '#F7F9FC' } } },&#10;                        ],&#10;                        [&#10;                            { text: 'IP1dB 输入（上限）', textStyle: { fontSize: 18 } },&#10;                            { text: '________ dBm', textStyle: { fontSize: 18, bold: true, color: '#1E4FA8', textAlign: 'center' } },&#10;                        ],&#10;                        [&#10;                            { text: '下限输入（S/N≈3）', textStyle: { fontSize: 18 }, cellStyle: { background: { color: '#F7F9FC' } } },&#10;                            { text: '________ dBm', textStyle: { fontSize: 18, bold: true, color: '#1E4FA8', textAlign: 'center' }, cellStyle: { background: { color: '#F7F9FC' } } },&#10;                        ],&#10;                        [&#10;                            { text: '动态范围', textStyle: { fontSize: 18, bold: true, color: '#0E3F8C' }, cellStyle: { background: { color: '#E8EFF8' } } },&#10;                            { text: '________ dB', textStyle: { fontSize: 20, bold: true, color: '#D9534F', textAlign: 'center' }, cellStyle: { background: { color: '#E8EFF8' } } },&#10;                        ],&#10;                    ]}&#10;                /&gt;&#10;            &lt;/Box&gt;&#10;        &lt;/Box&gt;&#10;&#10;        {/* ---- 右列：目标 → 定义 → 上限 → 下限 ---- */}&#10;        &lt;Box style={{ width: '660px', height: '100%', gap: '10px' }}&gt;&#10;&#10;            {/* 一、本页目标 */}&#10;            &lt;Box style={{ height: '88px', background: '#F0F5FC', border: '1px solid #D6DCE5', borderRadius: '8px', padding: '10px 14px' }}&gt;&#10;                &lt;Text style={{ fontSize: 22, fontWeight: 'bold', color: '#0E3F8C' }}&gt;一、本页目标&lt;/Text&gt;&#10;                &lt;Text style={{ fontSize: 19, color: '#1A2230', lineHeight: 1.5, paddingTop: '2px' }}&gt;掌握 IP1dB 与 S/N≈3 两条判据，测出放大器的线性动态范围。&lt;/Text&gt;&#10;            &lt;/Box&gt;&#10;&#10;            {/* 二、定义 */}&#10;            &lt;Box style={{ height: '112px', background: '#FFFFFF', border: '1px solid #D6DCE5', borderRadius: '8px', padding: '10px 14px', flexDirection: 'row', alignItems: 'center', justifyContent: 'space-between' }}&gt;&#10;                &lt;Box style={{ width: '430px' }}&gt;&#10;                    &lt;Text style={{ fontSize: 22, fontWeight: 'bold', color: '#0E3F8C' }}&gt;二、动态范围定义&lt;/Text&gt;&#10;                    &lt;Text style={{ fontSize: 19, color: '#1A2230', lineHeight: 1.5, paddingTop: '2px' }}&gt;&#10;                        动态范围(dB) = &lt;span style={{ fontWeight: 'bold', color: '#1E4FA8' }}&gt;IP1dB − P_in(noise)&lt;/span&gt;：上限为线性极限，下限为灵敏度极限。&#10;                    &lt;/Text&gt;&#10;                &lt;/Box&gt;&#10;                &lt;Box style={{ width: '182px', alignItems: 'center', background: '#F0F5FC', borderRadius: '6px', padding: '6px 0px' }}&gt;&#10;                    &lt;Text style={{ fontSize: 44, fontWeight: 'bold', color: '#1E4FA8' }}&gt;0.891&lt;/Text&gt;&#10;                    &lt;Text style={{ fontSize: 14, color: '#4A5568' }}&gt;10^(−1/20) 压缩系数&lt;/Text&gt;&#10;                &lt;/Box&gt;&#10;            &lt;/Box&gt;&#10;&#10;            {/* 三、上限测定 */}&#10;            &lt;Box style={{ height: '171px', background: '#FFFFFF', border: '1px solid #D6DCE5', borderRadius: '8px', padding: '10px 14px' }}&gt;&#10;                &lt;Text style={{ fontSize: 22, fontWeight: 'bold', color: '#0E3F8C' }}&gt;三、上限测定：IP1dB（比值下降法）&lt;/Text&gt;&#10;                &lt;Text style={{ fontSize: 19, color: '#1A2230', paddingTop: '2px' }}&gt;判据：V_o/V_i = A_v0 × 10^(−1/20) ≈ &lt;span style={{ fontSize: 21, fontWeight: 'bold', color: '#D9534F' }}&gt;0.891·A_v0&lt;/span&gt;（下降 1 dB）&lt;/Text&gt;&#10;                &lt;Box style={{ flexDirection: 'row', flexWrap: 'wrap', gap: '4px', paddingTop: '6px' }}&gt;&#10;                    &lt;Text style={{ fontSize: 18, color: '#1A2230', width: '49%' }}&gt;① 输入频率设为 f₀ = 5.63 MHz&lt;/Text&gt;&#10;                    &lt;Text style={{ fontSize: 18, color: '#1A2230', width: '49%' }}&gt;② 小信号下记录谐振增益 A_v0&lt;/Text&gt;&#10;                    &lt;Text style={{ fontSize: 18, color: '#1A2230', width: '49%' }}&gt;③ 逐步增大输入，实时算 V_o/V_i&lt;/Text&gt;&#10;                    &lt;Text style={{ fontSize: 18, color: '#1A2230', width: '49%' }}&gt;④ 比值达 0.891·A_v0 时记录&lt;/Text&gt;&#10;                &lt;/Box&gt;&#10;                &lt;Text style={{ fontSize: 16, color: '#D9534F', paddingTop: '4px' }}&gt;⚠️ 只看输出绝对值会误判，必须用比值下降 1 dB 判定压缩。&lt;/Text&gt;&#10;            &lt;/Box&gt;&#10;&#10;            {/* 四、下限测定 */}&#10;            &lt;Box style={{ height: '171px', background: '#FFFFFF', border: '1px solid #D6DCE5', borderRadius: '8px', padding: '10px 14px' }}&gt;&#10;                &lt;Text style={{ fontSize: 22, fontWeight: 'bold', color: '#0E3F8C' }}&gt;四、下限测定：S/N≈3 灵敏度&lt;/Text&gt;&#10;                &lt;Text style={{ fontSize: 19, color: '#1A2230', paddingTop: '2px' }}&gt;判据：S/N ≈ 3（4.8 dB），信号幅度 ≈ &lt;span style={{ fontSize: 21, fontWeight: 'bold', color: '#D9534F' }}&gt;√3 × 噪声幅度&lt;/span&gt;，勉强可辨&lt;/Text&gt;&#10;                &lt;Box style={{ flexDirection: 'row', flexWrap: 'wrap', gap: '4px', paddingTop: '6px' }}&gt;&#10;                    &lt;Text style={{ fontSize: 18, color: '#1A2230', width: '49%' }}&gt;① 固定 f₀ = 5.63 MHz&lt;/Text&gt;&#10;                    &lt;Text style={{ fontSize: 18, color: '#1A2230', width: '49%' }}&gt;② 从较大输入开始逐步减小&lt;/Text&gt;&#10;                    &lt;Text style={{ fontSize: 18, color: '#1A2230', width: '49%' }}&gt;③ 观察信号与噪声幅度&lt;/Text&gt;&#10;                    &lt;Text style={{ fontSize: 18, color: '#1A2230', width: '49%' }}&gt;④ 幅度比 ≈ √3 时记录输入&lt;/Text&gt;&#10;                &lt;/Box&gt;&#10;                &lt;Text style={{ fontSize: 16, color: '#D9534F', paddingTop: '4px' }}&gt;⚠️ LC 回路滤除谐波、削顶不明显，下限按幅度比（功率比）判读。&lt;/Text&gt;&#10;            &lt;/Box&gt;&#10;        &lt;/Box&gt;&#10;    &lt;/Box&gt;&#10;&#10;    {/* ===== D 页脚 ===== */}&#10;    &lt;Box style={{ position: 'absolute', top: '662px', left: '40px', width: '1200px', height: '38px', flexDirection: 'row', alignItems: 'center', justifyContent: 'space-between' }}&gt;&#10;        &lt;Text style={{ fontSize: 14, color: '#8B97A8' }}&gt;西南民族大学 · 电子信息工程实验教学中心&lt;/Text&gt;&#10;        &lt;Text style={{ fontSize: 14, color: '#1E4FA8', fontWeight: 'bold' }}&gt;01 / 0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9"/>
            <a:ext cx="12191365" cy="6857643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圆角矩形 2"/>
          <p:cNvSpPr/>
          <p:nvPr/>
        </p:nvSpPr>
        <p:spPr>
          <a:xfrm>
            <a:off x="380980" y="762139"/>
            <a:ext cx="4952742" cy="2876400"/>
          </a:xfrm>
          <a:prstGeom prst="roundRect">
            <a:avLst>
              <a:gd name="adj" fmla="val 26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495274" y="876433"/>
            <a:ext cx="4724154" cy="247637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动态范围示意图（</a:t>
            </a:r>
            <a:r>
              <a:rPr lang="en-US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V_o — P_in</a:t>
            </a: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274" y="1162168"/>
            <a:ext cx="4724154" cy="2285881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81000" y="3733800"/>
            <a:ext cx="4953000" cy="237617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476225" y="3829029"/>
            <a:ext cx="4762252" cy="285735"/>
          </a:xfrm>
          <a:prstGeom prst="rect">
            <a:avLst/>
          </a:prstGeom>
        </p:spPr>
        <p:txBody>
          <a:bodyPr wrap="none" lIns="0" tIns="0" rIns="0" bIns="4286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五、实测数据记录（学生填写，</a:t>
            </a:r>
            <a:r>
              <a:rPr lang="en-US" sz="1500" b="1" i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f₀</a:t>
            </a:r>
            <a:r>
              <a:rPr lang="en-US" sz="150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5.63 MHz</a:t>
            </a:r>
            <a:r>
              <a:rPr lang="zh-CN" sz="150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sz="1500" b="1">
              <a:solidFill>
                <a:srgbClr val="0E3F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76225" y="4114764"/>
          <a:ext cx="4761865" cy="1904365"/>
        </p:xfrm>
        <a:graphic>
          <a:graphicData uri="http://schemas.openxmlformats.org/drawingml/2006/table">
            <a:tbl>
              <a:tblPr/>
              <a:tblGrid>
                <a:gridCol w="2806700"/>
                <a:gridCol w="1955165"/>
              </a:tblGrid>
              <a:tr h="3746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</a:rPr>
                        <a:t>测量参数</a:t>
                      </a:r>
                      <a:endParaRPr sz="13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</a:rPr>
                        <a:t>记录值</a:t>
                      </a:r>
                      <a:endParaRPr sz="13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E4FA8"/>
                    </a:solidFill>
                  </a:tcPr>
                </a:tc>
              </a:tr>
              <a:tr h="3746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谐振电压增益 A_v0</a:t>
                      </a:r>
                      <a:endParaRPr sz="1350">
                        <a:solidFill>
                          <a:srgbClr val="1A223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________ dB</a:t>
                      </a:r>
                      <a:endParaRPr sz="1350" b="1">
                        <a:solidFill>
                          <a:srgbClr val="1E4FA8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401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IP1dB 输入（上限）</a:t>
                      </a:r>
                      <a:endParaRPr sz="1350">
                        <a:solidFill>
                          <a:srgbClr val="1A223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________ dBm</a:t>
                      </a:r>
                      <a:endParaRPr sz="1350" b="1">
                        <a:solidFill>
                          <a:srgbClr val="1E4FA8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下限输入（S/N≈3）</a:t>
                      </a:r>
                      <a:r>
                        <a:rPr lang="zh-CN" sz="16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+mn-ea"/>
                        </a:rPr>
                        <a:t>勉强可辨</a:t>
                      </a:r>
                      <a:endParaRPr sz="1350">
                        <a:solidFill>
                          <a:srgbClr val="1A223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________ dBm</a:t>
                      </a:r>
                      <a:endParaRPr sz="1350" b="1">
                        <a:solidFill>
                          <a:srgbClr val="1E4FA8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064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0E3F8C"/>
                          </a:solidFill>
                          <a:latin typeface="Times New Roman" panose="02020603050405020304" charset="0"/>
                          <a:ea typeface="微软雅黑" panose="020B0503020204020204" charset="-122"/>
                        </a:rPr>
                        <a:t>动态范围</a:t>
                      </a:r>
                      <a:endParaRPr sz="1350" b="1">
                        <a:solidFill>
                          <a:srgbClr val="0E3F8C"/>
                        </a:solidFill>
                        <a:latin typeface="Times New Roman" panose="02020603050405020304" charset="0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D9534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________ dB</a:t>
                      </a:r>
                      <a:endParaRPr sz="1500" b="1">
                        <a:solidFill>
                          <a:srgbClr val="D9534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5524212" y="762139"/>
            <a:ext cx="6286173" cy="838156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5657555" y="857384"/>
            <a:ext cx="6019486" cy="257162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一、目标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657555" y="1114546"/>
            <a:ext cx="6019486" cy="352407"/>
          </a:xfrm>
          <a:prstGeom prst="rect">
            <a:avLst/>
          </a:prstGeom>
        </p:spPr>
        <p:txBody>
          <a:bodyPr wrap="none" lIns="0" tIns="14287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掌握</a:t>
            </a:r>
            <a:r>
              <a:rPr lang="en-US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IP1dB </a:t>
            </a: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与</a:t>
            </a:r>
            <a:r>
              <a:rPr lang="en-US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S/N≈3 </a:t>
            </a: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两条判据，测出放大器的线性动态范围。</a:t>
            </a:r>
            <a:endParaRPr lang="zh-CN" sz="1425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524212" y="1695540"/>
            <a:ext cx="6286173" cy="10667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657555" y="1762212"/>
            <a:ext cx="4095537" cy="257162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二、动态范围定义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5657555" y="2019373"/>
            <a:ext cx="4095537" cy="676240"/>
          </a:xfrm>
          <a:prstGeom prst="rect">
            <a:avLst/>
          </a:prstGeom>
        </p:spPr>
        <p:txBody>
          <a:bodyPr wrap="square" lIns="0" tIns="14287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动态范围</a:t>
            </a:r>
            <a:r>
              <a:rPr lang="en-US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(dB) = </a:t>
            </a:r>
            <a:r>
              <a:rPr lang="en-US" sz="1425" b="1">
                <a:solidFill>
                  <a:srgbClr val="1E4FA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IP1dB − P_in(noise)</a:t>
            </a: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：上限为线性极限，下限为灵敏度极限。</a:t>
            </a:r>
            <a:endParaRPr lang="zh-CN" sz="1425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943582" y="1838408"/>
            <a:ext cx="1733460" cy="781009"/>
          </a:xfrm>
          <a:prstGeom prst="roundRect">
            <a:avLst>
              <a:gd name="adj" fmla="val 7317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229317" y="1895555"/>
            <a:ext cx="1161989" cy="50479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0.891</a:t>
            </a:r>
            <a:endParaRPr lang="en-US" sz="3300" b="1">
              <a:solidFill>
                <a:srgbClr val="1E4FA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153121" y="2400354"/>
            <a:ext cx="1314382" cy="161917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10^(−1/20) </a:t>
            </a:r>
            <a:r>
              <a:rPr lang="zh-CN" sz="120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压缩系数</a:t>
            </a:r>
            <a:endParaRPr lang="zh-CN" sz="120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24212" y="2857530"/>
            <a:ext cx="6286173" cy="162869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657555" y="2952775"/>
            <a:ext cx="6019486" cy="257162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三、上限测定：</a:t>
            </a:r>
            <a:r>
              <a:rPr lang="en-US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IP1dB</a:t>
            </a:r>
            <a:r>
              <a:rPr lang="zh-CN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（比值下降法）</a:t>
            </a:r>
            <a:endParaRPr lang="zh-CN" sz="1650" b="1">
              <a:solidFill>
                <a:srgbClr val="0E3F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657555" y="3209936"/>
            <a:ext cx="6019486" cy="266686"/>
          </a:xfrm>
          <a:prstGeom prst="rect">
            <a:avLst/>
          </a:prstGeom>
        </p:spPr>
        <p:txBody>
          <a:bodyPr wrap="none" lIns="0" tIns="14287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判据：</a:t>
            </a:r>
            <a:r>
              <a:rPr lang="en-US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V_o/V_i = A_v0 × 10^(−1/20) ≈ </a:t>
            </a:r>
            <a:r>
              <a:rPr lang="en-US" sz="1575" b="1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0.891·A_v0</a:t>
            </a: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（下降</a:t>
            </a:r>
            <a:r>
              <a:rPr lang="en-US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 dB</a:t>
            </a:r>
            <a:r>
              <a:rPr lang="zh-CN" sz="1425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sz="1425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657555" y="3533770"/>
            <a:ext cx="2952596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输入频率设为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sz="1350" i="1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f₀ 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 5.63 MHz</a:t>
            </a:r>
            <a:endParaRPr lang="en-US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648250" y="3533770"/>
            <a:ext cx="2943072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小信号下记录谐振增益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A_v0</a:t>
            </a:r>
            <a:endParaRPr lang="en-US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5657555" y="3781407"/>
            <a:ext cx="2952596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逐步增大输入，实时算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V_o/V_i</a:t>
            </a:r>
            <a:endParaRPr lang="en-US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8648250" y="3781407"/>
            <a:ext cx="2943072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④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比值达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0.891·A_v0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时记录</a:t>
            </a:r>
            <a:endParaRPr lang="zh-CN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5657555" y="4088736"/>
            <a:ext cx="6019486" cy="228588"/>
          </a:xfrm>
          <a:prstGeom prst="rect">
            <a:avLst/>
          </a:prstGeom>
        </p:spPr>
        <p:txBody>
          <a:bodyPr wrap="none" lIns="0" tIns="28573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⚠️ </a:t>
            </a:r>
            <a:r>
              <a:rPr lang="zh-CN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只看输出绝对值会误判，必须用比值下降</a:t>
            </a:r>
            <a:r>
              <a:rPr lang="en-US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 dB </a:t>
            </a:r>
            <a:r>
              <a:rPr lang="zh-CN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判定压缩。</a:t>
            </a:r>
            <a:endParaRPr lang="zh-CN" sz="1200">
              <a:solidFill>
                <a:srgbClr val="D9534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524500" y="4581525"/>
            <a:ext cx="6285865" cy="1501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5657555" y="4676710"/>
            <a:ext cx="6019486" cy="257162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四、下限测定：</a:t>
            </a:r>
            <a:r>
              <a:rPr lang="en-US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S/N≈3 </a:t>
            </a:r>
            <a:r>
              <a:rPr lang="zh-CN" sz="165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灵敏度</a:t>
            </a:r>
            <a:endParaRPr lang="zh-CN" sz="1650" b="1">
              <a:solidFill>
                <a:srgbClr val="0E3F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 descr="{&quot;isTemplate&quot;:true,&quot;type&quot;:&quot;text&quot;}"/>
              <p:cNvSpPr txBox="1"/>
              <p:nvPr/>
            </p:nvSpPr>
            <p:spPr>
              <a:xfrm>
                <a:off x="5657555" y="4933872"/>
                <a:ext cx="6019486" cy="266686"/>
              </a:xfrm>
              <a:prstGeom prst="rect">
                <a:avLst/>
              </a:prstGeom>
            </p:spPr>
            <p:txBody>
              <a:bodyPr wrap="none" lIns="0" tIns="14287" rIns="0" bIns="0"/>
              <a:p>
                <a:pPr>
                  <a:lnSpc>
                    <a:spcPct val="100000"/>
                  </a:lnSpc>
                </a:pPr>
                <a:r>
                  <a:rPr lang="zh-CN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判据：</a:t>
                </a:r>
                <a:r>
                  <a:rPr lang="en-US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S/N ≈ 3</a:t>
                </a:r>
                <a:r>
                  <a:rPr lang="zh-CN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</a:t>
                </a:r>
                <a:r>
                  <a:rPr lang="en-US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4.8 dB</a:t>
                </a:r>
                <a:r>
                  <a:rPr lang="zh-CN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），信号幅度</a:t>
                </a:r>
                <a:r>
                  <a:rPr lang="en-US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≈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25" i="1">
                            <a:solidFill>
                              <a:srgbClr val="D953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sz="1425" i="1">
                            <a:solidFill>
                              <a:srgbClr val="D953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1575" b="1">
                    <a:solidFill>
                      <a:srgbClr val="D9534F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× </a:t>
                </a:r>
                <a:r>
                  <a:rPr lang="zh-CN" sz="1425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噪声幅度，</a:t>
                </a:r>
                <a:r>
                  <a:rPr lang="zh-CN" sz="1600" b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勉强可辨</a:t>
                </a:r>
                <a:endParaRPr lang="zh-CN" sz="1600" b="1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" name="文本框 27" descr="{&quot;isTemplate&quot;:true,&quot;type&quot;:&quot;text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555" y="4933872"/>
                <a:ext cx="6019486" cy="266686"/>
              </a:xfrm>
              <a:prstGeom prst="rect">
                <a:avLst/>
              </a:prstGeom>
              <a:blipFill rotWithShape="1">
                <a:blip r:embed="rId3"/>
                <a:stretch>
                  <a:fillRect l="-6" t="-1399" b="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5657555" y="5257705"/>
            <a:ext cx="2952596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固定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sz="1350" i="1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f₀ </a:t>
            </a: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 5.63 MHz</a:t>
            </a:r>
            <a:endParaRPr lang="en-US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648250" y="5257705"/>
            <a:ext cx="2943072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从较大输入开始逐步减小</a:t>
            </a:r>
            <a:endParaRPr lang="zh-CN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5657555" y="5505342"/>
            <a:ext cx="2952596" cy="209539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</a:t>
            </a:r>
            <a:r>
              <a:rPr lang="zh-CN" sz="1350">
                <a:solidFill>
                  <a:srgbClr val="1A22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观察信号与噪声幅度</a:t>
            </a:r>
            <a:endParaRPr lang="zh-CN" sz="1350">
              <a:solidFill>
                <a:srgbClr val="1A223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 descr="{&quot;isTemplate&quot;:true,&quot;type&quot;:&quot;text&quot;}"/>
              <p:cNvSpPr txBox="1"/>
              <p:nvPr/>
            </p:nvSpPr>
            <p:spPr>
              <a:xfrm>
                <a:off x="8648250" y="5505342"/>
                <a:ext cx="2943072" cy="209539"/>
              </a:xfrm>
              <a:prstGeom prst="rect">
                <a:avLst/>
              </a:prstGeom>
            </p:spPr>
            <p:txBody>
              <a:bodyPr wrap="none" lIns="0" tIns="0" rIns="0" bIns="0"/>
              <a:p>
                <a:pPr algn="l">
                  <a:lnSpc>
                    <a:spcPct val="100000"/>
                  </a:lnSpc>
                </a:pPr>
                <a:r>
                  <a:rPr lang="en-US" sz="1350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④ </a:t>
                </a:r>
                <a:r>
                  <a:rPr lang="zh-CN" sz="1350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幅度比</a:t>
                </a:r>
                <a:r>
                  <a:rPr lang="en-US" sz="1350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≈</a:t>
                </a:r>
                <a:r>
                  <a:rPr lang="en-US" sz="135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35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sz="135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sz="1350">
                    <a:solidFill>
                      <a:srgbClr val="1A22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时记录输入</a:t>
                </a:r>
                <a:endParaRPr lang="zh-CN" sz="1350">
                  <a:solidFill>
                    <a:srgbClr val="1A223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2" name="文本框 31" descr="{&quot;isTemplate&quot;:true,&quot;type&quot;:&quot;text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0" y="5505342"/>
                <a:ext cx="2943072" cy="209539"/>
              </a:xfrm>
              <a:prstGeom prst="rect">
                <a:avLst/>
              </a:prstGeom>
              <a:blipFill rotWithShape="1">
                <a:blip r:embed="rId4"/>
                <a:stretch>
                  <a:fillRect l="-6" t="-6009" r="1" b="-3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657555" y="5777746"/>
            <a:ext cx="6019486" cy="228588"/>
          </a:xfrm>
          <a:prstGeom prst="rect">
            <a:avLst/>
          </a:prstGeom>
        </p:spPr>
        <p:txBody>
          <a:bodyPr wrap="none" lIns="0" tIns="28573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⚠️ LC </a:t>
            </a:r>
            <a:r>
              <a:rPr lang="zh-CN" sz="1200">
                <a:solidFill>
                  <a:srgbClr val="D9534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回路滤除谐波、削顶不明显，下限按幅度比（功率比）判读。</a:t>
            </a:r>
            <a:endParaRPr lang="zh-CN" sz="1200">
              <a:solidFill>
                <a:srgbClr val="D9534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179"/>
            <a:ext cx="12191365" cy="685764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380980" y="162095"/>
            <a:ext cx="5133708" cy="37145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单调谐</a:t>
            </a: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LC 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选频放大器</a:t>
            </a: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动态范围测量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257672" y="247816"/>
            <a:ext cx="4552713" cy="19049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高频电路实验　</a:t>
            </a:r>
            <a:r>
              <a:rPr lang="en-US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|</a:t>
            </a:r>
            <a:r>
              <a:rPr lang="zh-CN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　单元：单调谐</a:t>
            </a:r>
            <a:r>
              <a:rPr lang="en-US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LC </a:t>
            </a:r>
            <a:r>
              <a:rPr lang="zh-CN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选频放大器　</a:t>
            </a:r>
            <a:r>
              <a:rPr lang="en-US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|</a:t>
            </a:r>
            <a:r>
              <a:rPr lang="zh-CN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　</a:t>
            </a:r>
            <a:r>
              <a:rPr lang="en-US" sz="1200" i="1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f₀ </a:t>
            </a:r>
            <a:r>
              <a:rPr lang="en-US" sz="1200">
                <a:solidFill>
                  <a:srgbClr val="C9D9F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≈ 5.63 MHz</a:t>
            </a:r>
            <a:endParaRPr lang="en-US" sz="1200">
              <a:solidFill>
                <a:srgbClr val="C9D9F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9" name="TextBox 2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TextBox 23"/>
          <p:cNvSpPr txBox="1"/>
          <p:nvPr/>
        </p:nvSpPr>
        <p:spPr>
          <a:xfrm>
            <a:off x="405130" y="6151245"/>
            <a:ext cx="6729095" cy="295910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algn="l"/>
            <a:r>
              <a:rPr sz="1600" b="1">
                <a:solidFill>
                  <a:srgbClr val="D953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动态范围 = 20 lg (Vmax / Vmin)（dB）；示例 20 lg (220/50) ≈ 12.9 dB。</a:t>
            </a:r>
            <a:endParaRPr sz="1600" b="1">
              <a:solidFill>
                <a:srgbClr val="D9535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步骤三：幅频特性测量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STEP 3 — AMPLITUDE-FREQUENCY CHARACTERISTIC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步骤 3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25880"/>
            <a:ext cx="5760720" cy="3127248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7" y="1481328"/>
            <a:ext cx="530352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操作步骤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" y="2039112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1965960"/>
            <a:ext cx="5047488" cy="4846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按图 1-8 连线：信号源输出接单调谐放大器输入端，示波器 CH1 看输入、CH2 看输出；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" y="2523744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450592"/>
            <a:ext cx="5047488" cy="4846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选通开关抬起时，调节 3W10 至最小 / 中间 / 最大值；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" y="3008376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7" y="2935224"/>
            <a:ext cx="5047488" cy="4846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保持输入幅度不变，逐点改变频率、记录 Vo；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" y="349300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19856"/>
            <a:ext cx="5047488" cy="49212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先找谐振频率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（Vo 最大处），再找 0.707·</a:t>
            </a:r>
            <a:r>
              <a:rPr lang="en-US"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 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对应的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sz="1600" b="0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与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lang="en-US"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0936" y="3977640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3904488"/>
            <a:ext cx="5047488" cy="4846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选通开关按下后重复上述过程，比较 Q 与带宽的变化。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36208" y="1325880"/>
            <a:ext cx="5577840" cy="3127248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4808" y="1481328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关键操作提示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83096" y="2039112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93408" y="1965960"/>
            <a:ext cx="4864607" cy="58521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输入幅度全程保持不变，只改变频率；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83096" y="262432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93408" y="2551176"/>
            <a:ext cx="4864607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示波器探头 ×1，须与菜单中探头倍率一致；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83096" y="3209544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93408" y="3136392"/>
            <a:ext cx="4864607" cy="24574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谐振点附近频率步进要小，便于准确定位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</a:t>
            </a:r>
            <a:r>
              <a:rPr sz="16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；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83096" y="3794759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93408" y="3721608"/>
            <a:ext cx="4864607" cy="58521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每次改接线前先关信号源输出，幅度再由小到大恢复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4048" y="4553712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4703382"/>
            <a:ext cx="11064240" cy="4870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记录内容：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、f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→ BW₀.₇ =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lang="en-US"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−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lang="en-US"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→ Q =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BW₀.₇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同时记录谐振点输出电压 </a:t>
            </a:r>
            <a:r>
              <a:rPr lang="en-US"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，用于计算 0.707·</a:t>
            </a:r>
            <a:r>
              <a:rPr lang="en-US"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的取值。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4048" y="5394960"/>
            <a:ext cx="11430000" cy="603504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6928" y="5449824"/>
            <a:ext cx="11064240" cy="49377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注意：谐振峰尖锐，频率稍偏输出电压即明显下降 —— 这正是「选频」特性的体现。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数据记录表（表1-3）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RECORD SHEET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记录模板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298448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表1-3　幅频特性测量数据记录表（空白模板，逐点记录后填入）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600200"/>
          <a:ext cx="11430000" cy="35877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0749"/>
                <a:gridCol w="1080327"/>
                <a:gridCol w="1214755"/>
                <a:gridCol w="760095"/>
                <a:gridCol w="751205"/>
                <a:gridCol w="885190"/>
                <a:gridCol w="743153"/>
                <a:gridCol w="791845"/>
                <a:gridCol w="740605"/>
                <a:gridCol w="850265"/>
                <a:gridCol w="736827"/>
                <a:gridCol w="760366"/>
                <a:gridCol w="859155"/>
                <a:gridCol w="685463"/>
              </a:tblGrid>
              <a:tr h="52451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选通开关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静态工作点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sz="1600" b="1" i="1" baseline="-2500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en-US"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0.1L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……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L</a:t>
                      </a:r>
                      <a:r>
                        <a:rPr lang="en-US"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0.707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……</a:t>
                      </a:r>
                      <a:endParaRPr lang="en-US" sz="1600" b="1" i="1" baseline="-2500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……</a:t>
                      </a:r>
                      <a:endParaRPr lang="en-US" sz="1600" b="1" i="1" baseline="-2500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H</a:t>
                      </a:r>
                      <a:r>
                        <a:rPr lang="en-US"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0.707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……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en-US" sz="1600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0.1H</a:t>
                      </a:r>
                      <a:endParaRPr lang="en-US" sz="1600" b="1" i="1" baseline="-2500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BW₀.₇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280670">
                <a:tc rowSpan="6"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抬起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8067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0.1V</a:t>
                      </a:r>
                      <a:r>
                        <a:rPr lang="en-US" altLang="zh-CN" sz="1200" i="1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max</a:t>
                      </a: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0.707</a:t>
                      </a:r>
                      <a:r>
                        <a:rPr lang="en-US" altLang="zh-CN" sz="120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en-US" altLang="zh-CN" sz="1200" i="1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max</a:t>
                      </a: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lang="en-US" altLang="zh-CN" sz="1400" b="0" i="1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max</a:t>
                      </a:r>
                      <a:endParaRPr lang="en-US" altLang="zh-CN" sz="1400" b="0" i="1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0.707</a:t>
                      </a:r>
                      <a:r>
                        <a:rPr lang="en-US" altLang="zh-CN" sz="120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en-US" altLang="zh-CN" sz="1200" i="1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max</a:t>
                      </a:r>
                      <a:endParaRPr lang="en-US" altLang="zh-CN" sz="1200" b="0" i="1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0.1V</a:t>
                      </a:r>
                      <a:r>
                        <a:rPr lang="en-US" altLang="zh-CN" sz="1200" i="1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max</a:t>
                      </a: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50190">
                <a:tc rowSpan="6"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按下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f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MHz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190"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1" i="1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00" b="1" i="1" baseline="-25000">
                          <a:solidFill>
                            <a:schemeClr val="tx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（</a:t>
                      </a:r>
                      <a:r>
                        <a:rPr lang="en-US" alt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V</a:t>
                      </a:r>
                      <a:r>
                        <a:rPr lang="zh-CN" sz="1400" b="1">
                          <a:solidFill>
                            <a:schemeClr val="tx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）</a:t>
                      </a:r>
                      <a:endParaRPr lang="zh-CN" sz="1400" b="1" i="1">
                        <a:solidFill>
                          <a:schemeClr val="tx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4048" y="5195570"/>
            <a:ext cx="11430000" cy="841248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5409501"/>
            <a:ext cx="11064240" cy="4870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实验条件：输入 Vi = 60 mV（V</a:t>
            </a:r>
            <a:r>
              <a:rPr sz="1600" b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P-P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），频率范围 f = 5 ~ 7 MHz；选通开关抬起 / 按下两种状态各测一组。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计算式：BW₀.₇ = 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− 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；Q = 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BW₀.₇；</a:t>
            </a:r>
            <a:r>
              <a:rPr lang="en-US"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为谐振点输出电压，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lang="en-US"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lang="zh-CN" sz="1400" b="0" i="1">
                <a:solidFill>
                  <a:srgbClr val="333D4C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、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lang="en-US"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0.707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取 0.707·</a:t>
            </a:r>
            <a:r>
              <a:rPr lang="en-US"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 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对应的频率。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034786"/>
            <a:ext cx="1106424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建议先测谐振点并做好标记，再以谐振点为中心向上、向下逐点测量。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51976" y="3429000"/>
            <a:ext cx="2852928" cy="2852928"/>
          </a:xfrm>
          <a:prstGeom prst="ellipse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31136"/>
            <a:ext cx="2478024" cy="239572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9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51376" y="2002536"/>
            <a:ext cx="27432" cy="2852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8304" y="2066543"/>
            <a:ext cx="6492240" cy="6035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30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数据处理与分析</a:t>
            </a:r>
            <a:endParaRPr sz="30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8304" y="2816352"/>
            <a:ext cx="649224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PROCESSING &amp; ANALYSIS</a:t>
            </a:r>
            <a:endParaRPr sz="18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18304" y="352044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83480" y="341985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实测数据汇总（静态工作点 · 动态范围）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18304" y="402336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83480" y="392277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分析一：静态工作点对幅频特性的影响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18304" y="452628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83480" y="442569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分析二：负载电阻 Rc 对幅频特性的影响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18304" y="5029200"/>
            <a:ext cx="137160" cy="137160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83480" y="4928616"/>
            <a:ext cx="57607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综合分析与误差来源 · 思考题与小结</a:t>
            </a:r>
            <a:endParaRPr sz="16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实测数据汇总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MEASURED DATA SUMMARY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数据整理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225296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表1-1　静态工作点实测（三极管是否工作在放大区）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481328"/>
          <a:ext cx="11430000" cy="1444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737360"/>
                <a:gridCol w="1554480"/>
                <a:gridCol w="1554480"/>
                <a:gridCol w="1920240"/>
                <a:gridCol w="23774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实 测（V）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VE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是否放大区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判断依据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7.90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≈12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是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 &gt; VB &gt; VE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5.06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≈12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是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 &gt; VB &gt; VE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1.84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≈12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是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VC &gt; VB &gt; VE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2999232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表1-2　不同静态工作点下的动态范围实测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3273552"/>
          <a:ext cx="114300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834640"/>
                <a:gridCol w="1828800"/>
                <a:gridCol w="210312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选通开关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静态工作点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（MHz）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Vmin（mV）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Vmax（mV）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抬起（Rc 大）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 = 7.90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抬起（Rc 大）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 = 5.06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5.63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抬起（Rc 大）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 = 1.84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6.03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280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按下（Rc 小）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 = 7.90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按下（Rc 小）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 = 5.06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5.63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按下（Rc 小）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 = 1.84 V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6.03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84048" y="5650992"/>
            <a:ext cx="11430000" cy="566928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5705855"/>
            <a:ext cx="1106424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结论：三种静态工作点下 VC &gt; VB &gt; VE 均成立 —— 晶体管始终工作在线性放大区（甲类）。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分析一：静态工作点对幅频特性的影响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EFFECT OF QUIESCENT POINT ON f0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图表分析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98448"/>
            <a:ext cx="576072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_v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3322"/>
            <a:ext cx="5614416" cy="4210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833872"/>
            <a:ext cx="57607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静态工作点对单调谐放大器幅频特性的影响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413248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实测数据（选通开关抬起）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572768"/>
          <a:ext cx="5413248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005840"/>
                <a:gridCol w="1417320"/>
                <a:gridCol w="152704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静态工作点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（MHz）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max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7.90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4.68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5.06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5.63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4.68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1.84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6.03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3.24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0" y="3273552"/>
            <a:ext cx="5413248" cy="123444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0" y="3418967"/>
            <a:ext cx="5047488" cy="94361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规律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VB 改变 → Vce 变化 → 集电结电容随之变化 → 谐振频率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移动（5.52 ~ 6.03 MHz）。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VB 增大，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向低频移动；VB 减小，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向高频移动。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4718304"/>
            <a:ext cx="5413248" cy="106070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0" y="4897501"/>
            <a:ext cx="5047488" cy="70231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结论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静态工作点主要影响 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的位置，对选频特性（曲线形状）影响相对较小；VB(min) 时谐振点增益略降（3.24 V）。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分析二：负载电阻 Rc 对幅频特性的影响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EFFECT OF COLLECTOR LOAD Rc ON Q &amp; BANDWIDTH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图表分析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298448"/>
            <a:ext cx="576072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_r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3322"/>
            <a:ext cx="5614416" cy="4210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833872"/>
            <a:ext cx="57607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负载电阻对单调谐放大器幅频特性的影响（横轴为示意频率轴）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413248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实测数据（VB(mid) = 5.06 V）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572768"/>
          <a:ext cx="5413248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731520"/>
                <a:gridCol w="1188720"/>
                <a:gridCol w="166420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负载状态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Rc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max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BW₀.₇ / Q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选通开关抬起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大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4.68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≈0.42 MHz / ≈13.4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选通开关按下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小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2.04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展宽 / 降低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0" y="3017520"/>
            <a:ext cx="5413248" cy="132588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0" y="3195955"/>
            <a:ext cx="5047488" cy="96901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规律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Rc ↓ → Q ↓ → 增益下降、带宽展宽（</a:t>
            </a:r>
            <a:r>
              <a:rPr lang="en-US"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max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4.68 V → 2.04 V）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Rc 决定有载 Q 与带宽：Rc 越大选频性越好，但增益需折中；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Rc 越小，带宽越宽，但增益与选择性下降。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4498848"/>
            <a:ext cx="5413248" cy="128016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0" y="4553712"/>
            <a:ext cx="5047488" cy="1170431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对比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选通开关抬起（Rc 大）：谐振峰高而窄 —— 高 Q、强选频；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选通开关按下（Rc 小）：谐振峰低而宽 —— 低 Q、弱选频、宽通带。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综合分析：f0 / BW₀.₇ / Q 与动态范围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COMPREHENSIVE ANALYSIS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分析汇总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选通开关抬起时，不同静态工作点下的幅频特性指标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572768"/>
          <a:ext cx="1143000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463040"/>
                <a:gridCol w="1920240"/>
                <a:gridCol w="1920240"/>
                <a:gridCol w="2377440"/>
                <a:gridCol w="14630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静态工作点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1600" b="1" i="1" baseline="-2500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（MHz）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600" b="1" i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max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（V）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BW₀.₇（MHz）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1B4A9C"/>
                      </a:solidFill>
                    </a:lnL>
                    <a:lnR w="12700" cap="flat" cmpd="sng" algn="ctr">
                      <a:solidFill>
                        <a:srgbClr val="1B4A9C"/>
                      </a:solidFill>
                    </a:lnR>
                    <a:lnT w="12700" cap="flat" cmpd="sng" algn="ctr">
                      <a:solidFill>
                        <a:srgbClr val="1B4A9C"/>
                      </a:solidFill>
                    </a:lnT>
                    <a:lnB w="12700" cap="flat" cmpd="sng" algn="ctr">
                      <a:solidFill>
                        <a:srgbClr val="1B4A9C"/>
                      </a:solidFill>
                    </a:lnB>
                    <a:solidFill>
                      <a:srgbClr val="1B4A9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VB(max)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7.90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4.68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按同法计算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—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VB(mid)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5.06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5.63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4.68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 0.42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≈ 13.4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42C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VB(min)</a:t>
                      </a:r>
                      <a:endParaRPr sz="1400" b="1">
                        <a:solidFill>
                          <a:srgbClr val="242C3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1.84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6.03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3.24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按同法计算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—</a:t>
                      </a:r>
                      <a:endParaRPr sz="1400" b="0">
                        <a:solidFill>
                          <a:srgbClr val="333D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A8BAD4"/>
                      </a:solidFill>
                    </a:lnL>
                    <a:lnR w="12700" cap="flat" cmpd="sng" algn="ctr">
                      <a:solidFill>
                        <a:srgbClr val="A8BAD4"/>
                      </a:solidFill>
                    </a:lnR>
                    <a:lnT w="12700" cap="flat" cmpd="sng" algn="ctr">
                      <a:solidFill>
                        <a:srgbClr val="A8BAD4"/>
                      </a:solidFill>
                    </a:lnT>
                    <a:lnB w="12700" cap="flat" cmpd="sng" algn="ctr">
                      <a:solidFill>
                        <a:srgbClr val="A8BAD4"/>
                      </a:solidFill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4048" y="3291840"/>
            <a:ext cx="11430000" cy="82296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3346704"/>
            <a:ext cx="11064240" cy="71323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动态范围：VB(mid)、选通开关抬起时，Vmin = 50 mV、Vmax = 220 mV → 20 lg (220/50) ≈ 12.9 dB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4048" y="4224528"/>
            <a:ext cx="11430000" cy="91440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4438206"/>
            <a:ext cx="11064240" cy="4870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理论与实测对比</a:t>
            </a:r>
            <a:r>
              <a:rPr lang="zh-CN" sz="16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（举例）</a:t>
            </a:r>
            <a:endParaRPr sz="16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理论值（L = 1 µH、C = 220 pF）≈ 10.7 MHz；实测 </a:t>
            </a:r>
            <a:r>
              <a:rPr sz="1400"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400"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≈ 5.6 MHz。差异源于实际回路等效电容更大（含可调电容与分布电容）。</a:t>
            </a:r>
            <a:endParaRPr sz="1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4048" y="5248656"/>
            <a:ext cx="11430000" cy="786384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5518976"/>
            <a:ext cx="11064240" cy="24574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结论：Q 越高选择性越好但带宽越窄，须按指标折中；静态工作点主要影响 </a:t>
            </a:r>
            <a:r>
              <a:rPr sz="1600" b="1" i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1600" b="1" i="1" baseline="-25000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6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位置；Rc 决定有载 Q 与带宽。</a:t>
            </a:r>
            <a:endParaRPr sz="16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误差分析：仿真与实测差异的来源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ERROR ANALYSIS — SIMULATION vs MEASUREMENT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误差分析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2754630" cy="30175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85216" y="157276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85216" y="1645920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7791" y="1645666"/>
            <a:ext cx="2352294" cy="6217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回路等效电容偏大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911" y="2503551"/>
            <a:ext cx="2443734" cy="11074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实际回路含可调电容
与分布电容，等效 C 偏大
使</a:t>
            </a:r>
            <a:r>
              <a:rPr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实测值低于理论值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75838" y="1371600"/>
            <a:ext cx="2754630" cy="30175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477006" y="157276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7006" y="1645920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56101" y="1648841"/>
            <a:ext cx="2352294" cy="6217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器件非理想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31286" y="2487041"/>
            <a:ext cx="2443734" cy="138493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晶体管结电容随 Vce 变化
Q 值与增益随工作点漂移
模型参数与实物有差异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7628" y="1371600"/>
            <a:ext cx="2754630" cy="30175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368796" y="157276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8796" y="1645920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0091" y="1627886"/>
            <a:ext cx="2352294" cy="6217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元件参数误差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1016" y="2487041"/>
            <a:ext cx="2443734" cy="11074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L、C 标称值与实际值有偏差
可调电容位置影响谐振频率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59418" y="1371600"/>
            <a:ext cx="2754630" cy="301752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260586" y="157276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60586" y="1645920"/>
            <a:ext cx="420624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61881" y="1648841"/>
            <a:ext cx="2352294" cy="6217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242C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测量误差</a:t>
            </a:r>
            <a:endParaRPr sz="1800" b="1">
              <a:solidFill>
                <a:srgbClr val="242C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15171" y="2513711"/>
            <a:ext cx="2443734" cy="11074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探头 ×1 衰减、读数分辨率
频率步进过大会使
</a:t>
            </a:r>
            <a:r>
              <a:rPr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f</a:t>
            </a:r>
            <a:r>
              <a:rPr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定位不准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4048" y="4590288"/>
            <a:ext cx="11430000" cy="914400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928" y="4742370"/>
            <a:ext cx="11064240" cy="610235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实验报告要求</a:t>
            </a:r>
            <a:endParaRPr sz="20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Aft>
                <a:spcPts val="200"/>
              </a:spcAft>
            </a:pP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将仿真波形与实测波形并列对比，分析理想模型与实际电路的差异来源，完成「数据解读与误差分析」。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56772" y="6483096"/>
            <a:ext cx="56642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618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4048" y="237744"/>
            <a:ext cx="100584" cy="768096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8412480" cy="4937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6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思考题与小结</a:t>
            </a:r>
            <a:endParaRPr sz="26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8412480" cy="3108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6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QUESTIONS &amp; SUMMARY</a:t>
            </a:r>
            <a:endParaRPr sz="16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62288" y="365760"/>
            <a:ext cx="2651760" cy="493776"/>
          </a:xfrm>
          <a:prstGeom prst="rect">
            <a:avLst/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62288" y="457200"/>
            <a:ext cx="265176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18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总结</a:t>
            </a:r>
            <a:endParaRPr sz="18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6766560" cy="402336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58368" y="1536192"/>
            <a:ext cx="6217920" cy="36893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思考题</a:t>
            </a:r>
            <a:endParaRPr sz="2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3232" y="204825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2121408"/>
            <a:ext cx="420624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5024" y="2066544"/>
            <a:ext cx="557784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为何谐振放大器采用部分接入方式连接晶体管与回路？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3232" y="314553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218688"/>
            <a:ext cx="420624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35024" y="3163824"/>
            <a:ext cx="557784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动态范围与通频带是否存在矛盾？工程上如何折中？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424281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4315968"/>
            <a:ext cx="420624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35024" y="4261104"/>
            <a:ext cx="557784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仿真</a:t>
            </a:r>
            <a:r>
              <a:rPr b="0" i="1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</a:t>
            </a:r>
            <a:r>
              <a:rPr b="0" i="1" baseline="-2500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与实测不一致，可能的原因有哪些？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24927" y="1371600"/>
            <a:ext cx="4389120" cy="4023360"/>
          </a:xfrm>
          <a:prstGeom prst="roundRect">
            <a:avLst>
              <a:gd name="adj" fmla="val 2000"/>
            </a:avLst>
          </a:prstGeom>
          <a:solidFill>
            <a:srgbClr val="F8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99248" y="1536192"/>
            <a:ext cx="3840480" cy="36893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小结</a:t>
            </a:r>
            <a:endParaRPr sz="2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17536" y="2103120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36992" y="2011680"/>
            <a:ext cx="3657600" cy="8305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单调谐放大器以谐振回路选频：Q 越高选择性越好但带宽越窄，须按指标折中。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17536" y="3218688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36992" y="3127248"/>
            <a:ext cx="3657600" cy="553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静态工作点影响 </a:t>
            </a:r>
            <a:r>
              <a:rPr b="0" i="1">
                <a:solidFill>
                  <a:srgbClr val="333D4C"/>
                </a:solidFill>
                <a:uFillTx/>
                <a:latin typeface="Times New Roman" panose="02020603050405020304" charset="0"/>
                <a:ea typeface="Times New Roman" panose="02020603050405020304"/>
                <a:cs typeface="Times New Roman" panose="02020603050405020304"/>
              </a:rPr>
              <a:t>f</a:t>
            </a:r>
            <a:r>
              <a:rPr b="0" i="1" baseline="-25000">
                <a:solidFill>
                  <a:srgbClr val="333D4C"/>
                </a:solidFill>
                <a:uFillTx/>
                <a:latin typeface="Times New Roman" panose="02020603050405020304" charset="0"/>
                <a:ea typeface="Times New Roman" panose="02020603050405020304"/>
                <a:cs typeface="Times New Roman" panose="02020603050405020304"/>
              </a:rPr>
              <a:t>0</a:t>
            </a:r>
            <a:r>
              <a:rPr b="0" i="1">
                <a:solidFill>
                  <a:srgbClr val="333D4C"/>
                </a:solidFill>
                <a:uFillTx/>
                <a:latin typeface="Times New Roman" panose="02020603050405020304" charset="0"/>
                <a:ea typeface="Times New Roman" panose="02020603050405020304"/>
                <a:cs typeface="Times New Roman" panose="02020603050405020304"/>
              </a:rPr>
              <a:t> 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位置，负载电阻 Rc 决定 Q 值与带宽。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17536" y="4334255"/>
            <a:ext cx="91440" cy="91440"/>
          </a:xfrm>
          <a:prstGeom prst="rect">
            <a:avLst/>
          </a:prstGeom>
          <a:solidFill>
            <a:srgbClr val="35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36992" y="4242816"/>
            <a:ext cx="3657600" cy="8305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「选频」是高频放大区别于低频宽带放大的根本 —— 也是本实验的核心收获。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4048" y="6473952"/>
            <a:ext cx="53035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6C78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西南民族大学 · 高频电路实验 · 实验一</a:t>
            </a:r>
            <a:endParaRPr sz="1400" b="0">
              <a:solidFill>
                <a:srgbClr val="6C788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301222" y="6483096"/>
            <a:ext cx="521970" cy="215265"/>
          </a:xfrm>
          <a:prstGeom prst="rect">
            <a:avLst/>
          </a:prstGeom>
          <a:noFill/>
        </p:spPr>
        <p:txBody>
          <a:bodyPr wrap="none" lIns="36576" tIns="0" rIns="36576" bIns="0" anchor="t">
            <a:spAutoFit/>
          </a:bodyPr>
          <a:lstStyle/>
          <a:p>
            <a:pPr algn="r"/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lang="en-US"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r>
              <a:rPr sz="14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 29</a:t>
            </a:r>
            <a:endParaRPr sz="14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0000" y="198000"/>
            <a:ext cx="50400" cy="413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9779365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选频即选择 —— 专注、定力与取舍</a:t>
            </a:r>
            <a:endParaRPr sz="2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000" y="496799"/>
            <a:ext cx="9779365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TUNING AS CHOOSING: FOCUS, COMPOSURE AND TRADE-OFF</a:t>
            </a:r>
            <a:endParaRPr sz="1050" b="0">
              <a:solidFill>
                <a:srgbClr val="8B97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373365" y="187200"/>
            <a:ext cx="1548000" cy="342000"/>
          </a:xfrm>
          <a:prstGeom prst="roundRect">
            <a:avLst>
              <a:gd name="adj" fmla="val 3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实验1</a:t>
            </a:r>
            <a:endParaRPr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0000" y="737999"/>
            <a:ext cx="11651365" cy="162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6444000"/>
            <a:ext cx="504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西南民族大学 · 高频电路实验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1365" y="6444000"/>
            <a:ext cx="25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· 1 / 4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0000" y="900000"/>
            <a:ext cx="11651365" cy="14220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979200"/>
            <a:ext cx="11111365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选频即选择 —— 专注、定力与取舍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0000" y="1360800"/>
            <a:ext cx="11111365" cy="349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7D9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从单调谐回路谐振放大器看辩证权衡与实事求是</a:t>
            </a:r>
            <a:endParaRPr sz="1400" b="0">
              <a:solidFill>
                <a:srgbClr val="C7D9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00" y="1591200"/>
            <a:ext cx="1111136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谐振回路只放大谐振点附近的信号；人生同样需要“选频”与“定力”。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0000" y="2430000"/>
            <a:ext cx="11651365" cy="1925999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000" y="2430000"/>
            <a:ext cx="57600" cy="1925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" y="2520000"/>
            <a:ext cx="11219365" cy="349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0E3F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思政立意 · IDEOLOGICAL CONNOTATION</a:t>
            </a:r>
            <a:endParaRPr sz="1400" b="1">
              <a:solidFill>
                <a:srgbClr val="0E3F8C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000" y="2893700"/>
            <a:ext cx="11183365" cy="969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选择性 vs 通频带：Q 值越高选择性越好、带宽越窄——任何优化都有代价，学会辩证权衡、抓主要矛盾。</a:t>
            </a:r>
            <a:endParaRPr sz="14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单调谐放大器从众多频率中选出有用信号，启示青年在信息过载的时代保持专注与定力，不被“噪声”裹挟。</a:t>
            </a:r>
            <a:endParaRPr sz="14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谐振点由实测扫频确定而非照抄教材：测出多少写多少，这是学术诚信的底线。</a:t>
            </a:r>
            <a:endParaRPr sz="14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800" y="4355830"/>
            <a:ext cx="11651365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本讲对应思政维度</a:t>
            </a:r>
            <a:endParaRPr sz="11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0000" y="4644000"/>
            <a:ext cx="2243873" cy="3780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工匠精神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21873" y="4644000"/>
            <a:ext cx="2243873" cy="3780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创新意识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973746" y="4644000"/>
            <a:ext cx="2243873" cy="378000"/>
          </a:xfrm>
          <a:prstGeom prst="roundRect">
            <a:avLst>
              <a:gd name="adj" fmla="val 3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98A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报国志向</a:t>
            </a:r>
            <a:endParaRPr sz="1300" b="1">
              <a:solidFill>
                <a:srgbClr val="98A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25619" y="4644000"/>
            <a:ext cx="2243873" cy="378000"/>
          </a:xfrm>
          <a:prstGeom prst="roundRect">
            <a:avLst>
              <a:gd name="adj" fmla="val 3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98A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全球视野</a:t>
            </a:r>
            <a:endParaRPr sz="1300" b="1">
              <a:solidFill>
                <a:srgbClr val="98A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77492" y="4644000"/>
            <a:ext cx="2243873" cy="378000"/>
          </a:xfrm>
          <a:prstGeom prst="roundRect">
            <a:avLst>
              <a:gd name="adj" fmla="val 3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工程伦理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0000" y="5166000"/>
            <a:ext cx="11651365" cy="630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5166000"/>
            <a:ext cx="11219365" cy="6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会选频，才听得清；懂取舍，才走得远。</a:t>
            </a:r>
            <a:endParaRPr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0000" y="198000"/>
            <a:ext cx="50400" cy="413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9779365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选频即选择 —— 专注、定力与取舍</a:t>
            </a:r>
            <a:endParaRPr sz="2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000" y="496799"/>
            <a:ext cx="9779365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TUNING AS CHOOSING: FOCUS, COMPOSURE AND TRADE-OFF</a:t>
            </a:r>
            <a:endParaRPr sz="1050" b="0">
              <a:solidFill>
                <a:srgbClr val="8B97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373365" y="187200"/>
            <a:ext cx="1548000" cy="342000"/>
          </a:xfrm>
          <a:prstGeom prst="roundRect">
            <a:avLst>
              <a:gd name="adj" fmla="val 3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实验1</a:t>
            </a:r>
            <a:endParaRPr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0000" y="737999"/>
            <a:ext cx="11651365" cy="162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6444000"/>
            <a:ext cx="504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西南民族大学 · 高频电路实验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1365" y="6444000"/>
            <a:ext cx="25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· 2 / 4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270000" y="936000"/>
              <a:ext cx="11651364" cy="33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78895"/>
                    <a:gridCol w="2330273"/>
                    <a:gridCol w="5942196"/>
                  </a:tblGrid>
                  <a:tr h="378000"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实验内容 / 技术点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思政映射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zh-CN" altLang="en-US"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讲述内容</a:t>
                          </a:r>
                          <a:endParaRPr lang="zh-CN" altLang="en-US"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</a:tr>
                  <a:tr h="990000"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谐振曲线与通频带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B =</a:t>
                          </a:r>
                          <a:r>
                            <a:rPr sz="1400" b="1" i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 f₀</a:t>
                          </a: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 / Q ，选择性 S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400" b="1" i="1">
                                      <a:solidFill>
                                        <a:srgbClr val="1A2230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sz="1400" b="1">
                                      <a:solidFill>
                                        <a:srgbClr val="1A2230"/>
                                      </a:solidFill>
                                      <a:latin typeface="Times New Roman" panose="02020603050405020304" charset="0"/>
                                      <a:ea typeface="微软雅黑" panose="020B0503020204020204" charset="-122"/>
                                      <a:cs typeface="Times New Roman" panose="02020603050405020304" charset="0"/>
                                      <a:sym typeface="+mn-ea"/>
                                    </a:rPr>
                                    <m:t>1</m:t>
                                  </m:r>
                                  <m:r>
                                    <a:rPr sz="1400" b="1">
                                      <a:solidFill>
                                        <a:srgbClr val="1A2230"/>
                                      </a:solidFill>
                                      <a:latin typeface="Times New Roman" panose="02020603050405020304" charset="0"/>
                                      <a:ea typeface="微软雅黑" panose="020B0503020204020204" charset="-122"/>
                                      <a:cs typeface="Times New Roman" panose="02020603050405020304" charset="0"/>
                                      <a:sym typeface="+mn-ea"/>
                                    </a:rPr>
                                    <m:t>+</m:t>
                                  </m:r>
                                  <m:r>
                                    <a:rPr sz="1400" b="1">
                                      <a:solidFill>
                                        <a:srgbClr val="1A2230"/>
                                      </a:solidFill>
                                      <a:latin typeface="Times New Roman" panose="02020603050405020304" charset="0"/>
                                      <a:ea typeface="微软雅黑" panose="020B0503020204020204" charset="-122"/>
                                      <a:cs typeface="Times New Roman" panose="02020603050405020304" charset="0"/>
                                      <a:sym typeface="+mn-ea"/>
                                    </a:rPr>
                                    <m:t>𝜉</m:t>
                                  </m:r>
                                  <m:r>
                                    <a:rPr sz="1400" b="1">
                                      <a:solidFill>
                                        <a:srgbClr val="1A2230"/>
                                      </a:solidFill>
                                      <a:latin typeface="Times New Roman" panose="02020603050405020304" charset="0"/>
                                      <a:ea typeface="微软雅黑" panose="020B0503020204020204" charset="-122"/>
                                      <a:cs typeface="Times New Roman" panose="02020603050405020304" charset="0"/>
                                      <a:sym typeface="+mn-ea"/>
                                    </a:rPr>
                                    <m:t>²</m:t>
                                  </m:r>
                                </m:e>
                              </m:rad>
                            </m:oMath>
                          </a14:m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辩证思维 · 权衡取舍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增益、带宽、选择性三者不可兼得。工程没有最优解，只有最合适的解——人生的重要选择也是如此。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</a:tr>
                  <a:tr h="990000"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结构改进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单调谐 → 双调谐 → 参差调谐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精益求精 · 创新意识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一个回路不够就加一个，一个参数不够就调一个。改进永远有空间，这就是工匠精神与创新意识。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</a:tr>
                  <a:tr h="990000"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谐振频率实测与失谐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增益随失谐迅速下降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实事求是 · 学术诚信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谐振点在哪，仪器说了算。测出来是多少就写多少，绝不为凑曲线修改数据——这是科研诚信的底线。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270000" y="936000"/>
              <a:ext cx="11651364" cy="33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78895"/>
                    <a:gridCol w="2330273"/>
                    <a:gridCol w="5942196"/>
                  </a:tblGrid>
                  <a:tr h="378000"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实验内容 / 技术点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思政映射</a:t>
                          </a:r>
                          <a:endParaRPr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zh-CN" altLang="en-US" sz="1600" b="1">
                              <a:solidFill>
                                <a:srgbClr val="FFFFFF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讲述内容</a:t>
                          </a:r>
                          <a:endParaRPr lang="zh-CN" altLang="en-US" sz="1600" b="1">
                            <a:solidFill>
                              <a:srgbClr val="FFFFFF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0E3F8C"/>
                        </a:solidFill>
                      </a:tcPr>
                    </a:tc>
                  </a:tr>
                  <a:tr h="9899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43200" marB="4320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辩证思维 · 权衡取舍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增益、带宽、选择性三者不可兼得。工程没有最优解，只有最合适的解——人生的重要选择也是如此。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</a:tr>
                  <a:tr h="990000"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结构改进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单调谐 → 双调谐 → 参差调谐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精益求精 · 创新意识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一个回路不够就加一个，一个参数不够就调一个。改进永远有空间，这就是工匠精神与创新意识。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7F9FC"/>
                        </a:solidFill>
                      </a:tcPr>
                    </a:tc>
                  </a:tr>
                  <a:tr h="990000"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谐振频率实测与失谐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1A2230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增益随失谐迅速下降</a:t>
                          </a:r>
                          <a:endParaRPr sz="1400" b="1">
                            <a:solidFill>
                              <a:srgbClr val="1A2230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sz="1400" b="1">
                              <a:solidFill>
                                <a:srgbClr val="0E3F8C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实事求是 · 学术诚信</a:t>
                          </a:r>
                          <a:endParaRPr sz="1400" b="1">
                            <a:solidFill>
                              <a:srgbClr val="0E3F8C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square"/>
                        <a:lstStyle/>
                        <a:p>
                          <a:pPr algn="l">
                            <a:lnSpc>
                              <a:spcPct val="115000"/>
                            </a:lnSpc>
                          </a:pPr>
                          <a:r>
                            <a:rPr sz="1400" b="0">
                              <a:solidFill>
                                <a:srgbClr val="4A5568"/>
                              </a:solidFill>
                              <a:latin typeface="Times New Roman" panose="02020603050405020304" charset="0"/>
                              <a:ea typeface="微软雅黑" panose="020B0503020204020204" charset="-122"/>
                              <a:cs typeface="Times New Roman" panose="02020603050405020304" charset="0"/>
                            </a:rPr>
                            <a:t>谐振点在哪，仪器说了算。测出来是多少就写多少，绝不为凑曲线修改数据——这是科研诚信的底线。</a:t>
                          </a:r>
                          <a:endParaRPr sz="1400" b="0">
                            <a:solidFill>
                              <a:srgbClr val="4A5568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endParaRPr>
                        </a:p>
                      </a:txBody>
                      <a:tcPr marL="72000" marR="72000" marT="43200" marB="43200" anchor="ctr"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Rounded Rectangle 10"/>
          <p:cNvSpPr/>
          <p:nvPr/>
        </p:nvSpPr>
        <p:spPr>
          <a:xfrm>
            <a:off x="270000" y="4500000"/>
            <a:ext cx="11651365" cy="97200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000" y="4500000"/>
            <a:ext cx="57600" cy="9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4579200"/>
            <a:ext cx="11219365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教师使用提示</a:t>
            </a:r>
            <a:endParaRPr sz="12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486000" y="4818895"/>
            <a:ext cx="1122000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在实验做完、数据记录完毕后集中讲解，</a:t>
            </a:r>
            <a:r>
              <a:rPr lang="zh-CN" sz="12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12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留给学生课后阅读。</a:t>
            </a:r>
            <a:endParaRPr sz="12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0000" y="198000"/>
            <a:ext cx="50400" cy="413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9779365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选频即选择 —— 专注、定力与取舍</a:t>
            </a:r>
            <a:endParaRPr sz="2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000" y="496799"/>
            <a:ext cx="9779365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TUNING AS CHOOSING: FOCUS, COMPOSURE AND TRADE-OFF</a:t>
            </a:r>
            <a:endParaRPr sz="1050" b="0">
              <a:solidFill>
                <a:srgbClr val="8B97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373365" y="187200"/>
            <a:ext cx="1548000" cy="342000"/>
          </a:xfrm>
          <a:prstGeom prst="roundRect">
            <a:avLst>
              <a:gd name="adj" fmla="val 3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实验1</a:t>
            </a:r>
            <a:endParaRPr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0000" y="737999"/>
            <a:ext cx="11651365" cy="162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6444000"/>
            <a:ext cx="504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西南民族大学 · 高频电路实验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1365" y="6444000"/>
            <a:ext cx="25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· 3 / 4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0000" y="936000"/>
            <a:ext cx="5735682" cy="3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0000" y="936000"/>
            <a:ext cx="5735682" cy="34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000" y="913960"/>
            <a:ext cx="5519682" cy="38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  <a:t>国内高校同类课程做法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000" y="1368000"/>
            <a:ext cx="533968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哈尔滨工业大学《通信电子线路》：梳理 21 个思政元素与知识点连接的“网络图谱”，在每个知识点上锚定思政结合点，实现润物无声。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大连东软信息学院《通信电子线路》：以 TOPCARES 一体化设计构建“六位一体”思政元素体系，用华为 5G、北斗导航等案例讲工匠精神与产业报国。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安徽师范大学课件在绪论中直接点明育人目标：“立德树人：爱国之大德，建国之能人”。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85682" y="936000"/>
            <a:ext cx="5735682" cy="3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682" y="936000"/>
            <a:ext cx="5735682" cy="34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3682" y="913960"/>
            <a:ext cx="5519682" cy="38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  <a:t>境外工程教育对标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3682" y="1368000"/>
            <a:ext cx="5339682" cy="1715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ABET Criterion 3.2 要求工程方案综合权衡经济、环境、社会、伦理等多重约束——与“选择性—带宽”的多目标折中天然同构。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哈佛 Embedded EthiCS 主张把伦理模块嵌入每一门专业课程，使学生在真实技术语境中反复练习伦理推理，形成累积效应。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英国 Engineering Council UK-SPEC 要求注册工程师理解并遵守职业道德准则、承担环境与社会责任。</a:t>
            </a:r>
            <a:endParaRPr sz="14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0000" y="4356000"/>
            <a:ext cx="11651365" cy="12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0000" y="4356000"/>
            <a:ext cx="11651365" cy="34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000" y="4361583"/>
            <a:ext cx="11435365" cy="3308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000" y="4788000"/>
            <a:ext cx="11255365" cy="3162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素材清单：单调谐 / 双调谐幅频特性对比图 · 5G 基站滤波器小型化与国产化案例 · ABET Criterion 3.2 原文（中英对照一页纸）· 幅频特性实测照片</a:t>
            </a:r>
            <a:endParaRPr sz="1200" b="0">
              <a:solidFill>
                <a:srgbClr val="4A556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0000" y="198000"/>
            <a:ext cx="50400" cy="413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144000"/>
            <a:ext cx="9779365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选频即选择 —— 专注、定力与取舍</a:t>
            </a:r>
            <a:endParaRPr sz="2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000" y="496799"/>
            <a:ext cx="9779365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TUNING AS CHOOSING: FOCUS, COMPOSURE AND TRADE-OFF</a:t>
            </a:r>
            <a:endParaRPr sz="1050" b="0">
              <a:solidFill>
                <a:srgbClr val="8B97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373365" y="187200"/>
            <a:ext cx="1548000" cy="342000"/>
          </a:xfrm>
          <a:prstGeom prst="roundRect">
            <a:avLst>
              <a:gd name="adj" fmla="val 3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实验1</a:t>
            </a:r>
            <a:endParaRPr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0000" y="737999"/>
            <a:ext cx="11651365" cy="162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6444000"/>
            <a:ext cx="504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西南民族大学 · 高频电路实验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1365" y="6444000"/>
            <a:ext cx="25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课程思政 · 4 / 4</a:t>
            </a:r>
            <a:endParaRPr sz="1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0000" y="936000"/>
            <a:ext cx="11651365" cy="19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0000" y="936000"/>
            <a:ext cx="11651365" cy="34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000" y="941583"/>
            <a:ext cx="11435365" cy="3308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课堂讨论（</a:t>
            </a:r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自由时间讨论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000" y="1368000"/>
            <a:ext cx="11255365" cy="147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如果你的放大器带宽不够（声音发闷），你会牺牲什么来换取带宽？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“信号里有噪声，生活里也有噪声”——你如何给自己的学习“选频”？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实测谐振点与教材值相差 0.3 MHz，你会如何处理这组数据？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0000" y="3060000"/>
            <a:ext cx="11651365" cy="118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000" y="3060000"/>
            <a:ext cx="11651365" cy="34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000" y="3065583"/>
            <a:ext cx="11435365" cy="3308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课后微任务</a:t>
            </a:r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（实验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报告）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8000" y="3491999"/>
            <a:ext cx="11255365" cy="334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lang="zh-CN"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</a:t>
            </a:r>
            <a:r>
              <a:rPr lang="zh-CN"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实验数据画出</a:t>
            </a: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幅频特性实测曲线，标注 −3 dB 带宽，在图上写一句关于“工程权衡”的体会（ 50 </a:t>
            </a:r>
            <a:r>
              <a:rPr lang="zh-CN"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字以上</a:t>
            </a:r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0000" y="4392000"/>
            <a:ext cx="11651365" cy="1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0000" y="4392000"/>
            <a:ext cx="11651365" cy="34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000" y="4397583"/>
            <a:ext cx="11435365" cy="3308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 · 思政反思栏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000" y="4823999"/>
            <a:ext cx="11255365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本次实验中我遇到的最大偏差是什么？我是如何处理的？是否如实记录？（50—100 字）</a:t>
            </a:r>
            <a:endParaRPr sz="125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0000" y="5598000"/>
            <a:ext cx="11651365" cy="612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000" y="5598000"/>
            <a:ext cx="11219365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会选频，才听得清；懂取舍，才走得远。</a:t>
            </a:r>
            <a:endParaRPr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84048" y="2103120"/>
            <a:ext cx="11430000" cy="9144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4000" b="1">
                <a:solidFill>
                  <a:srgbClr val="1B4A9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谢 谢 ！</a:t>
            </a:r>
            <a:endParaRPr sz="4000" b="1">
              <a:solidFill>
                <a:srgbClr val="1B4A9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048" y="3182112"/>
            <a:ext cx="11430000" cy="36893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2400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规范操作 · 安全实验 · 学以致用</a:t>
            </a:r>
            <a:endParaRPr sz="2400"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00548" y="3749039"/>
            <a:ext cx="914400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4048" y="3965448"/>
            <a:ext cx="11430000" cy="3073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2000" b="1">
                <a:solidFill>
                  <a:srgbClr val="143A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高频电路实验 · 实验一　单调谐回路谐振放大器</a:t>
            </a:r>
            <a:endParaRPr sz="2000" b="1">
              <a:solidFill>
                <a:srgbClr val="143A7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4443984"/>
            <a:ext cx="11430000" cy="2768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实验平台：SMU-ST　|　实验室：JZ-70</a:t>
            </a:r>
            <a:r>
              <a:rPr lang="en-US"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b="0">
                <a:solidFill>
                  <a:srgbClr val="333D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　|　实验后请完成数据整理与实验报告</a:t>
            </a:r>
            <a:endParaRPr b="0">
              <a:solidFill>
                <a:srgbClr val="333D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2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3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4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5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6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7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8.xml><?xml version="1.0" encoding="utf-8"?>
<p:tagLst xmlns:p="http://schemas.openxmlformats.org/presentationml/2006/main">
  <p:tag name="KSO_WM_DIAGRAM_VIRTUALLY_FRAME" val="{&quot;height&quot;:144.71999999999997,&quot;left&quot;:371.52,&quot;top&quot;:269.28000000000003,&quot;width&quot;:474.48}"/>
</p:tagLst>
</file>

<file path=ppt/tags/tag9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0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1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2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3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4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5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6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7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8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19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20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21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22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23.xml><?xml version="1.0" encoding="utf-8"?>
<p:tagLst xmlns:p="http://schemas.openxmlformats.org/presentationml/2006/main">
  <p:tag name="KSO_WM_DIAGRAM_VIRTUALLY_FRAME" val="{&quot;height&quot;:226.08,&quot;left&quot;:61.2,&quot;top&quot;:129.6,&quot;width&quot;:838.8}"/>
</p:tagLst>
</file>

<file path=ppt/tags/tag24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25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26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27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28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29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0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1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2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3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4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5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6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7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8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39.xml><?xml version="1.0" encoding="utf-8"?>
<p:tagLst xmlns:p="http://schemas.openxmlformats.org/presentationml/2006/main">
  <p:tag name="KSO_WM_DIAGRAM_VIRTUALLY_FRAME" val="{&quot;height&quot;:183.6,&quot;left&quot;:30.24,&quot;top&quot;:108,&quot;width&quot;:712.7998425196851}"/>
</p:tagLst>
</file>

<file path=ppt/tags/tag40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1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2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3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4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5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6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7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8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49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0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1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2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3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4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5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6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7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8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ags/tag59.xml><?xml version="1.0" encoding="utf-8"?>
<p:tagLst xmlns:p="http://schemas.openxmlformats.org/presentationml/2006/main">
  <p:tag name="KSO_WM_DIAGRAM_VIRTUALLY_FRAME" val="{&quot;height&quot;:216,&quot;left&quot;:30.24,&quot;top&quot;:109.44000000000001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11624</Words>
  <Application>WPS 演示</Application>
  <PresentationFormat>On-screen Show (4:3)</PresentationFormat>
  <Paragraphs>1463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Arial</vt:lpstr>
      <vt:lpstr>Times New Roman</vt:lpstr>
      <vt:lpstr>Cambria Math</vt:lpstr>
      <vt:lpstr>Calibri</vt:lpstr>
      <vt:lpstr>微软雅黑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Administrator</cp:lastModifiedBy>
  <cp:revision>147</cp:revision>
  <dcterms:created xsi:type="dcterms:W3CDTF">2013-01-27T09:14:00Z</dcterms:created>
  <dcterms:modified xsi:type="dcterms:W3CDTF">2026-10-23T12:20:56Z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EA5CFBC6D95C4421A1460EFA50028447_12</vt:lpwstr>
  </property>
</Properties>
</file>